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c42d7e71-a66a-41fc-67fa-e27b1e41bcea}">
          <p14:sldIdLst>
            <p14:sldId id="256"/>
          </p14:sldIdLst>
        </p14:section>
        <p14:section name="Problem statement" id="{947929ba-fcc4-77b7-c805-3d98b7a907ef}">
          <p14:sldIdLst>
            <p14:sldId id="257"/>
            <p14:sldId id="258"/>
          </p14:sldIdLst>
        </p14:section>
        <p14:section name="Objectives" id="{a6372903-3c9d-d212-81bd-e8891f55c3f8}">
          <p14:sldIdLst>
            <p14:sldId id="259"/>
          </p14:sldIdLst>
        </p14:section>
        <p14:section name="Methodology" id="{59d1c96a-308e-d27e-8453-93e1d9768c3e}">
          <p14:sldIdLst>
            <p14:sldId id="260"/>
            <p14:sldId id="261"/>
            <p14:sldId id="262"/>
            <p14:sldId id="263"/>
            <p14:sldId id="264"/>
            <p14:sldId id="265"/>
            <p14:sldId id="266"/>
            <p14:sldId id="267"/>
          </p14:sldIdLst>
        </p14:section>
        <p14:section name="Block diagram" id="{65f9bbbf-97c4-baf6-435d-3019a10015a3}">
          <p14:sldIdLst>
            <p14:sldId id="268"/>
            <p14:sldId id="269"/>
            <p14:sldId id="270"/>
          </p14:sldIdLst>
        </p14:section>
        <p14:section name="Output samples" id="{fdd15ef7-872d-20ee-f7dd-a7fa65c9eed2}">
          <p14:sldIdLst>
            <p14:sldId id="271"/>
            <p14:sldId id="272"/>
            <p14:sldId id="273"/>
            <p14:sldId id="274"/>
            <p14:sldId id="275"/>
            <p14:sldId id="276"/>
            <p14:sldId id="277"/>
            <p14:sldId id="278"/>
            <p14:sldId id="279"/>
            <p14:sldId id="280"/>
          </p14:sldIdLst>
        </p14:section>
        <p14:section name="Result" id="{e73a9bd9-c8a9-a74f-21ad-a72f05190ccd}">
          <p14:sldIdLst>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not Google Drive?": Drive is right for most people. This is for anyone who wants the files on their own machine or server (privacy, no per-GB subscription, policy, data residency). Self-hosting removes the provider's durability and tiering, so the project adds replication across nodes and prediction-based archiving, plus admin approval and an admin summary. The same system serves an individual and an institution; only the scale and who the admin is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these are design differences, not performance claims. S3 tiering, HDFS replication and Nextcloud are real systems; this project reimplements the ideas at small scale so they can be shown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Defaults quoted from general knowledge of these systems (HDFS block size 128 MB and replication 3; Ceph replicated pools of size 3; Cassandra replication factor commonly 3). Verify against each project's documentation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Produced by docs/prove_availability.py against the running system. Results in docs/availability-proof.json.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lstStyle>
            <a:lvl1pPr algn="l" indent="0" marL="0">
              <a:buNone/>
              <a:defRPr lang="en-US" sz="3200" b="1" dirty="0">
                <a:solidFill>
                  <a:srgbClr val="1F2933"/>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554480"/>
            <a:ext cx="10881360" cy="1554480"/>
          </a:xfrm>
          <a:prstGeom prst="rect">
            <a:avLst/>
          </a:prstGeom>
          <a:noFill/>
          <a:ln/>
        </p:spPr>
        <p:txBody>
          <a:bodyPr wrap="square" lIns="0" tIns="0" rIns="0" bIns="0" rtlCol="0" anchor="t"/>
          <a:lstStyle/>
          <a:p>
            <a:pPr indent="0" marL="0">
              <a:buNone/>
            </a:pPr>
            <a:r>
              <a:rPr lang="en-US" sz="4000" b="1" dirty="0">
                <a:solidFill>
                  <a:srgbClr val="1F2933"/>
                </a:solidFill>
                <a:latin typeface="Cambria" pitchFamily="34" charset="0"/>
                <a:ea typeface="Cambria" pitchFamily="34" charset="-122"/>
                <a:cs typeface="Cambria" pitchFamily="34" charset="-120"/>
              </a:rPr>
              <a:t>Cloud File Storage System with Smart Storage Management</a:t>
            </a:r>
            <a:endParaRPr lang="en-US" sz="4000" dirty="0"/>
          </a:p>
        </p:txBody>
      </p:sp>
      <p:sp>
        <p:nvSpPr>
          <p:cNvPr id="3" name="Text 1"/>
          <p:cNvSpPr txBox="1"/>
          <p:nvPr/>
        </p:nvSpPr>
        <p:spPr>
          <a:xfrm>
            <a:off x="640080" y="3200400"/>
            <a:ext cx="10881360" cy="548640"/>
          </a:xfrm>
          <a:prstGeom prst="rect">
            <a:avLst/>
          </a:prstGeom>
          <a:noFill/>
          <a:ln/>
        </p:spPr>
        <p:txBody>
          <a:bodyPr wrap="square" lIns="0" tIns="0" rIns="0" bIns="0" rtlCol="0" anchor="ctr"/>
          <a:lstStyle/>
          <a:p>
            <a:pPr indent="0" marL="0">
              <a:buNone/>
            </a:pPr>
            <a:r>
              <a:rPr lang="en-US" sz="2200" dirty="0">
                <a:solidFill>
                  <a:srgbClr val="3E4C59"/>
                </a:solidFill>
                <a:latin typeface="Calibri" pitchFamily="34" charset="0"/>
                <a:ea typeface="Calibri" pitchFamily="34" charset="-122"/>
                <a:cs typeface="Calibri" pitchFamily="34" charset="-120"/>
              </a:rPr>
              <a:t>Scalable cloud storage with AI-based performance optimization</a:t>
            </a:r>
            <a:endParaRPr lang="en-US" sz="2200" dirty="0"/>
          </a:p>
        </p:txBody>
      </p:sp>
      <p:sp>
        <p:nvSpPr>
          <p:cNvPr id="4" name="Text 2"/>
          <p:cNvSpPr txBox="1"/>
          <p:nvPr/>
        </p:nvSpPr>
        <p:spPr>
          <a:xfrm>
            <a:off x="640080" y="4480560"/>
            <a:ext cx="10881360" cy="1280160"/>
          </a:xfrm>
          <a:prstGeom prst="rect">
            <a:avLst/>
          </a:prstGeom>
          <a:noFill/>
          <a:ln/>
        </p:spPr>
        <p:txBody>
          <a:bodyPr wrap="square" lIns="0" tIns="0" rIns="0" bIns="0" rtlCol="0" anchor="t"/>
          <a:lstStyle/>
          <a:p>
            <a:pPr indent="0" marL="0">
              <a:spcAft>
                <a:spcPts val="600"/>
              </a:spcAft>
              <a:buNone/>
            </a:pPr>
            <a:r>
              <a:rPr lang="en-US" sz="1800" dirty="0">
                <a:solidFill>
                  <a:srgbClr val="3E4C59"/>
                </a:solidFill>
                <a:latin typeface="Calibri" pitchFamily="34" charset="0"/>
                <a:ea typeface="Calibri" pitchFamily="34" charset="-122"/>
                <a:cs typeface="Calibri" pitchFamily="34" charset="-120"/>
              </a:rPr>
              <a:t>Team members: [Add names]</a:t>
            </a:r>
            <a:endParaRPr lang="en-US" sz="1800" dirty="0"/>
          </a:p>
          <a:p>
            <a:pPr indent="0" marL="0">
              <a:spcAft>
                <a:spcPts val="600"/>
              </a:spcAft>
              <a:buNone/>
            </a:pPr>
            <a:r>
              <a:rPr lang="en-US" sz="1800" dirty="0">
                <a:solidFill>
                  <a:srgbClr val="3E4C59"/>
                </a:solidFill>
                <a:latin typeface="Calibri" pitchFamily="34" charset="0"/>
                <a:ea typeface="Calibri" pitchFamily="34" charset="-122"/>
                <a:cs typeface="Calibri" pitchFamily="34" charset="-120"/>
              </a:rPr>
              <a:t>Guide: [Add guide name]</a:t>
            </a:r>
            <a:endParaRPr lang="en-US" sz="1800" dirty="0"/>
          </a:p>
          <a:p>
            <a:pPr indent="0" marL="0">
              <a:spcAft>
                <a:spcPts val="600"/>
              </a:spcAft>
              <a:buNone/>
            </a:pPr>
            <a:r>
              <a:rPr lang="en-US" sz="1800" dirty="0">
                <a:solidFill>
                  <a:srgbClr val="3E4C59"/>
                </a:solidFill>
                <a:latin typeface="Calibri" pitchFamily="34" charset="0"/>
                <a:ea typeface="Calibri" pitchFamily="34" charset="-122"/>
                <a:cs typeface="Calibri" pitchFamily="34" charset="-120"/>
              </a:rPr>
              <a:t>Date: [Add date]</a:t>
            </a:r>
            <a:endParaRPr lang="en-US" sz="1800" dirty="0"/>
          </a:p>
        </p:txBody>
      </p:sp>
      <p:sp>
        <p:nvSpPr>
          <p:cNvPr id="5"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endParaRPr lang="en-US" sz="3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200" b="1" dirty="0">
                <a:solidFill>
                  <a:srgbClr val="1F2933"/>
                </a:solidFill>
                <a:latin typeface="Cambria" pitchFamily="34" charset="0"/>
                <a:ea typeface="Cambria" pitchFamily="34" charset="-122"/>
                <a:cs typeface="Cambria" pitchFamily="34" charset="-120"/>
              </a:rPr>
              <a:t>Problem statement</a:t>
            </a:r>
            <a:endParaRPr lang="en-US" sz="3200" dirty="0"/>
          </a:p>
        </p:txBody>
      </p:sp>
      <p:sp>
        <p:nvSpPr>
          <p:cNvPr id="3" name="Text 1"/>
          <p:cNvSpPr txBox="1"/>
          <p:nvPr/>
        </p:nvSpPr>
        <p:spPr>
          <a:xfrm>
            <a:off x="640080" y="1463040"/>
            <a:ext cx="10881360" cy="4663440"/>
          </a:xfrm>
          <a:prstGeom prst="rect">
            <a:avLst/>
          </a:prstGeom>
          <a:noFill/>
          <a:ln/>
        </p:spPr>
        <p:txBody>
          <a:bodyPr wrap="square" lIns="0" tIns="0" rIns="0" bIns="0" rtlCol="0" anchor="t"/>
          <a:lstStyle/>
          <a:p>
            <a:pPr marL="342900" indent="-342900">
              <a:spcAft>
                <a:spcPts val="1200"/>
              </a:spcAft>
              <a:buSzPct val="100000"/>
              <a:buChar char="•"/>
            </a:pPr>
            <a:r>
              <a:rPr lang="en-US" sz="1900" dirty="0">
                <a:solidFill>
                  <a:srgbClr val="1F2933"/>
                </a:solidFill>
                <a:latin typeface="Calibri" pitchFamily="34" charset="0"/>
                <a:ea typeface="Calibri" pitchFamily="34" charset="-122"/>
                <a:cs typeface="Calibri" pitchFamily="34" charset="-120"/>
              </a:rPr>
              <a:t>People and organisations alike store more every year (photos, documents, projects, records), and most of it is written once and rarely opened again.</a:t>
            </a:r>
            <a:endParaRPr lang="en-US" sz="1900" dirty="0"/>
          </a:p>
          <a:p>
            <a:pPr marL="342900" indent="-342900">
              <a:spcAft>
                <a:spcPts val="1200"/>
              </a:spcAft>
              <a:buSzPct val="100000"/>
              <a:buChar char="•"/>
            </a:pPr>
            <a:r>
              <a:rPr lang="en-US" sz="1900" dirty="0">
                <a:solidFill>
                  <a:srgbClr val="1F2933"/>
                </a:solidFill>
                <a:latin typeface="Calibri" pitchFamily="34" charset="0"/>
                <a:ea typeface="Calibri" pitchFamily="34" charset="-122"/>
                <a:cs typeface="Calibri" pitchFamily="34" charset="-120"/>
              </a:rPr>
              <a:t>Public cloud drives keep this data on the provider's servers, under its terms and pricing: free space is small (Google gives 15 GB shared across its services), more space is a recurring per-GB fee, and access depends on the account staying active.</a:t>
            </a:r>
            <a:endParaRPr lang="en-US" sz="1900" dirty="0"/>
          </a:p>
          <a:p>
            <a:pPr marL="342900" indent="-342900">
              <a:spcAft>
                <a:spcPts val="1200"/>
              </a:spcAft>
              <a:buSzPct val="100000"/>
              <a:buChar char="•"/>
            </a:pPr>
            <a:r>
              <a:rPr lang="en-US" sz="1900" dirty="0">
                <a:solidFill>
                  <a:srgbClr val="1F2933"/>
                </a:solidFill>
                <a:latin typeface="Calibri" pitchFamily="34" charset="0"/>
                <a:ea typeface="Calibri" pitchFamily="34" charset="-122"/>
                <a:cs typeface="Calibri" pitchFamily="34" charset="-120"/>
              </a:rPr>
              <a:t>Many people want an alternative they control: an individual on a spare PC or home server, a student team, a small business, or a college lab, for privacy, cost or policy reasons.</a:t>
            </a:r>
            <a:endParaRPr lang="en-US" sz="1900" dirty="0"/>
          </a:p>
          <a:p>
            <a:pPr marL="342900" indent="-342900">
              <a:spcAft>
                <a:spcPts val="1200"/>
              </a:spcAft>
              <a:buSzPct val="100000"/>
              <a:buChar char="•"/>
            </a:pPr>
            <a:r>
              <a:rPr lang="en-US" sz="1900" dirty="0">
                <a:solidFill>
                  <a:srgbClr val="1F2933"/>
                </a:solidFill>
                <a:latin typeface="Calibri" pitchFamily="34" charset="0"/>
                <a:ea typeface="Calibri" pitchFamily="34" charset="-122"/>
                <a:cs typeface="Calibri" pitchFamily="34" charset="-120"/>
              </a:rPr>
              <a:t>Self-hosting removes the provider's safeguards: one failed disk can lose everything, an open sign-up lets anyone in, rarely used files fill full-cost space, and nobody can see what is happening.</a:t>
            </a:r>
            <a:endParaRPr lang="en-US" sz="1900" dirty="0"/>
          </a:p>
          <a:p>
            <a:pPr marL="342900" indent="-342900">
              <a:spcAft>
                <a:spcPts val="1200"/>
              </a:spcAft>
              <a:buSzPct val="100000"/>
              <a:buChar char="•"/>
            </a:pPr>
            <a:r>
              <a:rPr lang="en-US" sz="1900" dirty="0">
                <a:solidFill>
                  <a:srgbClr val="1F2933"/>
                </a:solidFill>
                <a:latin typeface="Calibri" pitchFamily="34" charset="0"/>
                <a:ea typeface="Calibri" pitchFamily="34" charset="-122"/>
                <a:cs typeface="Calibri" pitchFamily="34" charset="-120"/>
              </a:rPr>
              <a:t>Gap: no small, self-hosted, Drive-like product combines approved accounts, replicated storage nodes, automatic prediction-based archiving and a plain-language admin summary.</a:t>
            </a:r>
            <a:endParaRPr lang="en-US" sz="1900" dirty="0"/>
          </a:p>
          <a:p>
            <a:pPr marL="342900" indent="-342900">
              <a:spcAft>
                <a:spcPts val="1200"/>
              </a:spcAft>
              <a:buSzPct val="100000"/>
              <a:buChar char="•"/>
            </a:pPr>
            <a:r>
              <a:rPr lang="en-US" sz="1900" dirty="0">
                <a:solidFill>
                  <a:srgbClr val="1F2933"/>
                </a:solidFill>
                <a:latin typeface="Calibri" pitchFamily="34" charset="0"/>
                <a:ea typeface="Calibri" pitchFamily="34" charset="-122"/>
                <a:cs typeface="Calibri" pitchFamily="34" charset="-120"/>
              </a:rPr>
              <a:t>This project is that product at small scale; it does not claim to replace Google Drive at global scale.</a:t>
            </a:r>
            <a:endParaRPr lang="en-US" sz="19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200" b="1" dirty="0">
                <a:solidFill>
                  <a:srgbClr val="1F2933"/>
                </a:solidFill>
                <a:latin typeface="Cambria" pitchFamily="34" charset="0"/>
                <a:ea typeface="Cambria" pitchFamily="34" charset="-122"/>
                <a:cs typeface="Cambria" pitchFamily="34" charset="-120"/>
              </a:rPr>
              <a:t>Existing systems and the gap</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0881360" cy="914400"/>
        </p:xfrm>
        <a:graphic>
          <a:graphicData uri="http://schemas.openxmlformats.org/drawingml/2006/table">
            <a:tbl>
              <a:tblPr/>
              <a:tblGrid>
                <a:gridCol w="2377440"/>
                <a:gridCol w="4297680"/>
                <a:gridCol w="4206240"/>
              </a:tblGrid>
              <a:tr h="0">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System</a:t>
                      </a:r>
                      <a:endParaRPr lang="en-US" sz="1500" dirty="0">
                        <a:latin typeface="Calibri" charset="0"/>
                        <a:ea typeface="Calibri" charset="0"/>
                        <a:cs typeface="Calibri" charset="0"/>
                      </a:endParaRPr>
                    </a:p>
                  </a:txBody>
                  <a:tcPr marL="91440" marR="91440" marT="64008" marB="6400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EEF1F5"/>
                    </a:solidFill>
                  </a:tcPr>
                </a:tc>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What it does well</a:t>
                      </a:r>
                      <a:endParaRPr lang="en-US" sz="1500" dirty="0">
                        <a:latin typeface="Calibri" charset="0"/>
                        <a:ea typeface="Calibri" charset="0"/>
                        <a:cs typeface="Calibri" charset="0"/>
                      </a:endParaRPr>
                    </a:p>
                  </a:txBody>
                  <a:tcPr marL="91440" marR="91440" marT="64008" marB="6400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EEF1F5"/>
                    </a:solidFill>
                  </a:tcPr>
                </a:tc>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Gap for this use case</a:t>
                      </a:r>
                      <a:endParaRPr lang="en-US" sz="1500" dirty="0">
                        <a:latin typeface="Calibri" charset="0"/>
                        <a:ea typeface="Calibri" charset="0"/>
                        <a:cs typeface="Calibri" charset="0"/>
                      </a:endParaRPr>
                    </a:p>
                  </a:txBody>
                  <a:tcPr marL="91440" marR="91440" marT="64008" marB="6400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EEF1F5"/>
                    </a:solidFill>
                  </a:tcPr>
                </a:tc>
              </a:tr>
              <a:tr h="0">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Google Drive / Dropbox</a:t>
                      </a:r>
                      <a:endParaRPr lang="en-US" sz="1400" dirty="0">
                        <a:latin typeface="Calibri" charset="0"/>
                        <a:ea typeface="Calibri" charset="0"/>
                        <a:cs typeface="Calibri" charset="0"/>
                      </a:endParaRPr>
                    </a:p>
                  </a:txBody>
                  <a:tcPr marL="91440" marR="91440" marT="64008" marB="64008"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Easy sync and sharing; copies and placement managed by the provider</a:t>
                      </a:r>
                      <a:endParaRPr lang="en-US" sz="1400" dirty="0">
                        <a:latin typeface="Calibri" charset="0"/>
                        <a:ea typeface="Calibri" charset="0"/>
                        <a:cs typeface="Calibri" charset="0"/>
                      </a:endParaRPr>
                    </a:p>
                  </a:txBody>
                  <a:tcPr marL="91440" marR="91440" marT="64008" marB="64008"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Files stay on the provider's servers under its terms and pricing; owners cannot keep them on their own machine</a:t>
                      </a:r>
                      <a:endParaRPr lang="en-US" sz="1400" dirty="0">
                        <a:latin typeface="Calibri" charset="0"/>
                        <a:ea typeface="Calibri" charset="0"/>
                        <a:cs typeface="Calibri" charset="0"/>
                      </a:endParaRPr>
                    </a:p>
                  </a:txBody>
                  <a:tcPr marL="91440" marR="91440" marT="64008" marB="64008"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0">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Amazon S3 (tiering)</a:t>
                      </a:r>
                      <a:endParaRPr lang="en-US" sz="1400" dirty="0">
                        <a:latin typeface="Calibri" charset="0"/>
                        <a:ea typeface="Calibri" charset="0"/>
                        <a:cs typeface="Calibri" charset="0"/>
                      </a:endParaRPr>
                    </a:p>
                  </a:txBody>
                  <a:tcPr marL="91440" marR="91440" marT="64008" marB="64008"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Very durable object storage; moves objects between access tiers automatically</a:t>
                      </a:r>
                      <a:endParaRPr lang="en-US" sz="1400" dirty="0">
                        <a:latin typeface="Calibri" charset="0"/>
                        <a:ea typeface="Calibri" charset="0"/>
                        <a:cs typeface="Calibri" charset="0"/>
                      </a:endParaRPr>
                    </a:p>
                  </a:txBody>
                  <a:tcPr marL="91440" marR="91440" marT="64008" marB="64008"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A developer API, not a drive with accounts, folders, approval and viewer; billed per use</a:t>
                      </a:r>
                      <a:endParaRPr lang="en-US" sz="1400" dirty="0">
                        <a:latin typeface="Calibri" charset="0"/>
                        <a:ea typeface="Calibri" charset="0"/>
                        <a:cs typeface="Calibri" charset="0"/>
                      </a:endParaRPr>
                    </a:p>
                  </a:txBody>
                  <a:tcPr marL="91440" marR="91440" marT="64008" marB="64008"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0">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HDFS / Ceph / MinIO</a:t>
                      </a:r>
                      <a:endParaRPr lang="en-US" sz="1400" dirty="0">
                        <a:latin typeface="Calibri" charset="0"/>
                        <a:ea typeface="Calibri" charset="0"/>
                        <a:cs typeface="Calibri" charset="0"/>
                      </a:endParaRPr>
                    </a:p>
                  </a:txBody>
                  <a:tcPr marL="91440" marR="91440" marT="64008" marB="64008"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Replication across many machines at large scale</a:t>
                      </a:r>
                      <a:endParaRPr lang="en-US" sz="1400" dirty="0">
                        <a:latin typeface="Calibri" charset="0"/>
                        <a:ea typeface="Calibri" charset="0"/>
                        <a:cs typeface="Calibri" charset="0"/>
                      </a:endParaRPr>
                    </a:p>
                  </a:txBody>
                  <a:tcPr marL="91440" marR="91440" marT="64008" marB="64008"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Infrastructure to operate and integrate; no end-user drive or admin summary</a:t>
                      </a:r>
                      <a:endParaRPr lang="en-US" sz="1400" dirty="0">
                        <a:latin typeface="Calibri" charset="0"/>
                        <a:ea typeface="Calibri" charset="0"/>
                        <a:cs typeface="Calibri" charset="0"/>
                      </a:endParaRPr>
                    </a:p>
                  </a:txBody>
                  <a:tcPr marL="91440" marR="91440" marT="64008" marB="64008"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0">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Nextcloud (self-hosted)</a:t>
                      </a:r>
                      <a:endParaRPr lang="en-US" sz="1400" dirty="0">
                        <a:latin typeface="Calibri" charset="0"/>
                        <a:ea typeface="Calibri" charset="0"/>
                        <a:cs typeface="Calibri" charset="0"/>
                      </a:endParaRPr>
                    </a:p>
                  </a:txBody>
                  <a:tcPr marL="91440" marR="91440" marT="64008" marB="64008"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Self-hosted file sync and sharing</a:t>
                      </a:r>
                      <a:endParaRPr lang="en-US" sz="1400" dirty="0">
                        <a:latin typeface="Calibri" charset="0"/>
                        <a:ea typeface="Calibri" charset="0"/>
                        <a:cs typeface="Calibri" charset="0"/>
                      </a:endParaRPr>
                    </a:p>
                  </a:txBody>
                  <a:tcPr marL="91440" marR="91440" marT="64008" marB="64008"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Largely leaves replication and tiering to the storage underneath</a:t>
                      </a:r>
                      <a:endParaRPr lang="en-US" sz="1400" dirty="0">
                        <a:latin typeface="Calibri" charset="0"/>
                        <a:ea typeface="Calibri" charset="0"/>
                        <a:cs typeface="Calibri" charset="0"/>
                      </a:endParaRPr>
                    </a:p>
                  </a:txBody>
                  <a:tcPr marL="91440" marR="91440" marT="64008" marB="64008"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0">
                <a:tc>
                  <a:txBody>
                    <a:bodyPr/>
                    <a:lstStyle/>
                    <a:p>
                      <a:pPr indent="0" marL="0">
                        <a:buNone/>
                      </a:pPr>
                      <a:r>
                        <a:rPr lang="en-US" sz="1400" b="1" dirty="0">
                          <a:solidFill>
                            <a:srgbClr val="1A56C4"/>
                          </a:solidFill>
                          <a:latin typeface="Calibri" pitchFamily="34" charset="0"/>
                          <a:ea typeface="Calibri" pitchFamily="34" charset="-122"/>
                          <a:cs typeface="Calibri" pitchFamily="34" charset="-120"/>
                        </a:rPr>
                        <a:t>This project</a:t>
                      </a:r>
                      <a:endParaRPr lang="en-US" sz="1400" dirty="0">
                        <a:latin typeface="Calibri" charset="0"/>
                        <a:ea typeface="Calibri" charset="0"/>
                        <a:cs typeface="Calibri" charset="0"/>
                      </a:endParaRPr>
                    </a:p>
                  </a:txBody>
                  <a:tcPr marL="91440" marR="91440" marT="64008" marB="64008"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Self-hosted drive for individuals, teams and institutions: approved accounts, replicated nodes, prediction-based archiving, AI summary</a:t>
                      </a:r>
                      <a:endParaRPr lang="en-US" sz="1400" dirty="0">
                        <a:latin typeface="Calibri" charset="0"/>
                        <a:ea typeface="Calibri" charset="0"/>
                        <a:cs typeface="Calibri" charset="0"/>
                      </a:endParaRPr>
                    </a:p>
                  </a:txBody>
                  <a:tcPr marL="91440" marR="91440" marT="64008" marB="64008"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Small scale; nodes on one machine in the demo; setup needs basic technical skill; no file sharing between accounts yet</a:t>
                      </a:r>
                      <a:endParaRPr lang="en-US" sz="1400" dirty="0">
                        <a:latin typeface="Calibri" charset="0"/>
                        <a:ea typeface="Calibri" charset="0"/>
                        <a:cs typeface="Calibri" charset="0"/>
                      </a:endParaRPr>
                    </a:p>
                  </a:txBody>
                  <a:tcPr marL="91440" marR="91440" marT="64008" marB="64008"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bl>
          </a:graphicData>
        </a:graphic>
      </p:graphicFrame>
      <p:sp>
        <p:nvSpPr>
          <p:cNvPr id="4" name="Text 1"/>
          <p:cNvSpPr txBox="1"/>
          <p:nvPr/>
        </p:nvSpPr>
        <p:spPr>
          <a:xfrm>
            <a:off x="640080" y="6035040"/>
            <a:ext cx="10515600" cy="365760"/>
          </a:xfrm>
          <a:prstGeom prst="rect">
            <a:avLst/>
          </a:prstGeom>
          <a:noFill/>
          <a:ln/>
        </p:spPr>
        <p:txBody>
          <a:bodyPr wrap="square" lIns="0" tIns="0" rIns="0" bIns="0" rtlCol="0" anchor="ctr"/>
          <a:lstStyle/>
          <a:p>
            <a:pPr indent="0" marL="0">
              <a:buNone/>
            </a:pPr>
            <a:r>
              <a:rPr lang="en-US" sz="1500" i="1" dirty="0">
                <a:solidFill>
                  <a:srgbClr val="3E4C59"/>
                </a:solidFill>
                <a:latin typeface="Calibri" pitchFamily="34" charset="0"/>
                <a:ea typeface="Calibri" pitchFamily="34" charset="-122"/>
                <a:cs typeface="Calibri" pitchFamily="34" charset="-120"/>
              </a:rPr>
              <a:t>A design comparison, not a benchmark: this project does not claim to outperform these systems.</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200" b="1" dirty="0">
                <a:solidFill>
                  <a:srgbClr val="1F2933"/>
                </a:solidFill>
                <a:latin typeface="Cambria" pitchFamily="34" charset="0"/>
                <a:ea typeface="Cambria" pitchFamily="34" charset="-122"/>
                <a:cs typeface="Cambria" pitchFamily="34" charset="-120"/>
              </a:rPr>
              <a:t>Objectives</a:t>
            </a:r>
            <a:endParaRPr lang="en-US" sz="3200" dirty="0"/>
          </a:p>
        </p:txBody>
      </p:sp>
      <p:sp>
        <p:nvSpPr>
          <p:cNvPr id="3" name="Text 1"/>
          <p:cNvSpPr txBox="1"/>
          <p:nvPr/>
        </p:nvSpPr>
        <p:spPr>
          <a:xfrm>
            <a:off x="640080" y="1463040"/>
            <a:ext cx="10881360" cy="4663440"/>
          </a:xfrm>
          <a:prstGeom prst="rect">
            <a:avLst/>
          </a:prstGeom>
          <a:noFill/>
          <a:ln/>
        </p:spPr>
        <p:txBody>
          <a:bodyPr wrap="square" lIns="0" tIns="0" rIns="0" bIns="0" rtlCol="0" anchor="t"/>
          <a:lstStyle/>
          <a:p>
            <a:pPr marL="342900" indent="-342900">
              <a:spcAft>
                <a:spcPts val="1200"/>
              </a:spcAft>
              <a:buSzPct val="100000"/>
              <a:buChar char="•"/>
            </a:pPr>
            <a:r>
              <a:rPr lang="en-US" sz="1900" dirty="0">
                <a:solidFill>
                  <a:srgbClr val="1F2933"/>
                </a:solidFill>
                <a:latin typeface="Calibri" pitchFamily="34" charset="0"/>
                <a:ea typeface="Calibri" pitchFamily="34" charset="-122"/>
                <a:cs typeface="Calibri" pitchFamily="34" charset="-120"/>
              </a:rPr>
              <a:t>Provide a self-hosted, Google-Drive-style drive for individuals, teams and institutions with nested folders, upload, drag and drop, and an in-app file viewer.</a:t>
            </a:r>
            <a:endParaRPr lang="en-US" sz="1900" dirty="0"/>
          </a:p>
          <a:p>
            <a:pPr marL="342900" indent="-342900">
              <a:spcAft>
                <a:spcPts val="1200"/>
              </a:spcAft>
              <a:buSzPct val="100000"/>
              <a:buChar char="•"/>
            </a:pPr>
            <a:r>
              <a:rPr lang="en-US" sz="1900" dirty="0">
                <a:solidFill>
                  <a:srgbClr val="1F2933"/>
                </a:solidFill>
                <a:latin typeface="Calibri" pitchFamily="34" charset="0"/>
                <a:ea typeface="Calibri" pitchFamily="34" charset="-122"/>
                <a:cs typeface="Calibri" pitchFamily="34" charset="-120"/>
              </a:rPr>
              <a:t>Allow sign-in with Google only, with every new account approved by an administrator first.</a:t>
            </a:r>
            <a:endParaRPr lang="en-US" sz="1900" dirty="0"/>
          </a:p>
          <a:p>
            <a:pPr marL="342900" indent="-342900">
              <a:spcAft>
                <a:spcPts val="1200"/>
              </a:spcAft>
              <a:buSzPct val="100000"/>
              <a:buChar char="•"/>
            </a:pPr>
            <a:r>
              <a:rPr lang="en-US" sz="1900" dirty="0">
                <a:solidFill>
                  <a:srgbClr val="1F2933"/>
                </a:solidFill>
                <a:latin typeface="Calibri" pitchFamily="34" charset="0"/>
                <a:ea typeface="Calibri" pitchFamily="34" charset="-122"/>
                <a:cs typeface="Calibri" pitchFamily="34" charset="-120"/>
              </a:rPr>
              <a:t>Keep each account's files and folders completely private to that account.</a:t>
            </a:r>
            <a:endParaRPr lang="en-US" sz="1900" dirty="0"/>
          </a:p>
          <a:p>
            <a:pPr marL="342900" indent="-342900">
              <a:spcAft>
                <a:spcPts val="1200"/>
              </a:spcAft>
              <a:buSzPct val="100000"/>
              <a:buChar char="•"/>
            </a:pPr>
            <a:r>
              <a:rPr lang="en-US" sz="1900" dirty="0">
                <a:solidFill>
                  <a:srgbClr val="1F2933"/>
                </a:solidFill>
                <a:latin typeface="Calibri" pitchFamily="34" charset="0"/>
                <a:ea typeface="Calibri" pitchFamily="34" charset="-122"/>
                <a:cs typeface="Calibri" pitchFamily="34" charset="-120"/>
              </a:rPr>
              <a:t>Move rarely used files to compressed storage automatically, so users never notice or manage it.</a:t>
            </a:r>
            <a:endParaRPr lang="en-US" sz="1900" dirty="0"/>
          </a:p>
          <a:p>
            <a:pPr marL="342900" indent="-342900">
              <a:spcAft>
                <a:spcPts val="1200"/>
              </a:spcAft>
              <a:buSzPct val="100000"/>
              <a:buChar char="•"/>
            </a:pPr>
            <a:r>
              <a:rPr lang="en-US" sz="1900" dirty="0">
                <a:solidFill>
                  <a:srgbClr val="1F2933"/>
                </a:solidFill>
                <a:latin typeface="Calibri" pitchFamily="34" charset="0"/>
                <a:ea typeface="Calibri" pitchFamily="34" charset="-122"/>
                <a:cs typeface="Calibri" pitchFamily="34" charset="-120"/>
              </a:rPr>
              <a:t>Predict which files will be needed again, using a model trained on the access history.</a:t>
            </a:r>
            <a:endParaRPr lang="en-US" sz="1900" dirty="0"/>
          </a:p>
          <a:p>
            <a:pPr marL="342900" indent="-342900">
              <a:spcAft>
                <a:spcPts val="1200"/>
              </a:spcAft>
              <a:buSzPct val="100000"/>
              <a:buChar char="•"/>
            </a:pPr>
            <a:r>
              <a:rPr lang="en-US" sz="1900" dirty="0">
                <a:solidFill>
                  <a:srgbClr val="1F2933"/>
                </a:solidFill>
                <a:latin typeface="Calibri" pitchFamily="34" charset="0"/>
                <a:ea typeface="Calibri" pitchFamily="34" charset="-122"/>
                <a:cs typeface="Calibri" pitchFamily="34" charset="-120"/>
              </a:rPr>
              <a:t>Give the administrator a plain-language storage summary and suggestions, generated with Gemini 3.8 Flash.</a:t>
            </a:r>
            <a:endParaRPr lang="en-US" sz="1900" dirty="0"/>
          </a:p>
          <a:p>
            <a:pPr marL="342900" indent="-342900">
              <a:spcAft>
                <a:spcPts val="1200"/>
              </a:spcAft>
              <a:buSzPct val="100000"/>
              <a:buChar char="•"/>
            </a:pPr>
            <a:r>
              <a:rPr lang="en-US" sz="1900" dirty="0">
                <a:solidFill>
                  <a:srgbClr val="1F2933"/>
                </a:solidFill>
                <a:latin typeface="Calibri" pitchFamily="34" charset="0"/>
                <a:ea typeface="Calibri" pitchFamily="34" charset="-122"/>
                <a:cs typeface="Calibri" pitchFamily="34" charset="-120"/>
              </a:rPr>
              <a:t>Spread every file over several storage nodes in replicated chunks, so that node failures lose no data and stop no download.</a:t>
            </a:r>
            <a:endParaRPr lang="en-US" sz="1900" dirty="0"/>
          </a:p>
          <a:p>
            <a:pPr marL="342900" indent="-342900">
              <a:spcAft>
                <a:spcPts val="1200"/>
              </a:spcAft>
              <a:buSzPct val="100000"/>
              <a:buChar char="•"/>
            </a:pPr>
            <a:r>
              <a:rPr lang="en-US" sz="1900" dirty="0">
                <a:solidFill>
                  <a:srgbClr val="1F2933"/>
                </a:solidFill>
                <a:latin typeface="Calibri" pitchFamily="34" charset="0"/>
                <a:ea typeface="Calibri" pitchFamily="34" charset="-122"/>
                <a:cs typeface="Calibri" pitchFamily="34" charset="-120"/>
              </a:rPr>
              <a:t>Keep all metadata in PostgreSQL, with constraints that protect data integrity.</a:t>
            </a:r>
            <a:endParaRPr lang="en-US" sz="19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200" b="1" dirty="0">
                <a:solidFill>
                  <a:srgbClr val="1F2933"/>
                </a:solidFill>
                <a:latin typeface="Cambria" pitchFamily="34" charset="0"/>
                <a:ea typeface="Cambria" pitchFamily="34" charset="-122"/>
                <a:cs typeface="Cambria" pitchFamily="34" charset="-120"/>
              </a:rPr>
              <a:t>Methodology: approach and technologies</a:t>
            </a:r>
            <a:endParaRPr lang="en-US" sz="3200" dirty="0"/>
          </a:p>
        </p:txBody>
      </p:sp>
      <p:sp>
        <p:nvSpPr>
          <p:cNvPr id="3" name="Text 1"/>
          <p:cNvSpPr txBox="1"/>
          <p:nvPr/>
        </p:nvSpPr>
        <p:spPr>
          <a:xfrm>
            <a:off x="640080" y="1463040"/>
            <a:ext cx="10881360" cy="466344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1F2933"/>
                </a:solidFill>
                <a:latin typeface="Calibri" pitchFamily="34" charset="0"/>
                <a:ea typeface="Calibri" pitchFamily="34" charset="-122"/>
                <a:cs typeface="Calibri" pitchFamily="34" charset="-120"/>
              </a:rPr>
              <a:t>Backend: Spring Boot 3.5 on Java 21, organised by feature (account, file, folder, tiering, insights).</a:t>
            </a:r>
            <a:endParaRPr lang="en-US" sz="2000" dirty="0"/>
          </a:p>
          <a:p>
            <a:pPr marL="342900" indent="-342900">
              <a:spcAft>
                <a:spcPts val="1200"/>
              </a:spcAft>
              <a:buSzPct val="100000"/>
              <a:buChar char="•"/>
            </a:pPr>
            <a:r>
              <a:rPr lang="en-US" sz="2000" dirty="0">
                <a:solidFill>
                  <a:srgbClr val="1F2933"/>
                </a:solidFill>
                <a:latin typeface="Calibri" pitchFamily="34" charset="0"/>
                <a:ea typeface="Calibri" pitchFamily="34" charset="-122"/>
                <a:cs typeface="Calibri" pitchFamily="34" charset="-120"/>
              </a:rPr>
              <a:t>Frontend: React 19 with TypeScript, built with Vite, in a Google-Drive-like layout.</a:t>
            </a:r>
            <a:endParaRPr lang="en-US" sz="2000" dirty="0"/>
          </a:p>
          <a:p>
            <a:pPr marL="342900" indent="-342900">
              <a:spcAft>
                <a:spcPts val="1200"/>
              </a:spcAft>
              <a:buSzPct val="100000"/>
              <a:buChar char="•"/>
            </a:pPr>
            <a:r>
              <a:rPr lang="en-US" sz="2000" dirty="0">
                <a:solidFill>
                  <a:srgbClr val="1F2933"/>
                </a:solidFill>
                <a:latin typeface="Calibri" pitchFamily="34" charset="0"/>
                <a:ea typeface="Calibri" pitchFamily="34" charset="-122"/>
                <a:cs typeface="Calibri" pitchFamily="34" charset="-120"/>
              </a:rPr>
              <a:t>Database: PostgreSQL 16, started with Docker Compose; tests also run on a real PostgreSQL.</a:t>
            </a:r>
            <a:endParaRPr lang="en-US" sz="2000" dirty="0"/>
          </a:p>
          <a:p>
            <a:pPr marL="342900" indent="-342900">
              <a:spcAft>
                <a:spcPts val="1200"/>
              </a:spcAft>
              <a:buSzPct val="100000"/>
              <a:buChar char="•"/>
            </a:pPr>
            <a:r>
              <a:rPr lang="en-US" sz="2000" dirty="0">
                <a:solidFill>
                  <a:srgbClr val="1F2933"/>
                </a:solidFill>
                <a:latin typeface="Calibri" pitchFamily="34" charset="0"/>
                <a:ea typeface="Calibri" pitchFamily="34" charset="-122"/>
                <a:cs typeface="Calibri" pitchFamily="34" charset="-120"/>
              </a:rPr>
              <a:t>Sign-in: Spring Security with Google OAuth2 / OpenID Connect.</a:t>
            </a:r>
            <a:endParaRPr lang="en-US" sz="2000" dirty="0"/>
          </a:p>
          <a:p>
            <a:pPr marL="342900" indent="-342900">
              <a:spcAft>
                <a:spcPts val="1200"/>
              </a:spcAft>
              <a:buSzPct val="100000"/>
              <a:buChar char="•"/>
            </a:pPr>
            <a:r>
              <a:rPr lang="en-US" sz="2000" dirty="0">
                <a:solidFill>
                  <a:srgbClr val="1F2933"/>
                </a:solidFill>
                <a:latin typeface="Calibri" pitchFamily="34" charset="0"/>
                <a:ea typeface="Calibri" pitchFamily="34" charset="-122"/>
                <a:cs typeface="Calibri" pitchFamily="34" charset="-120"/>
              </a:rPr>
              <a:t>AI: Gemini 3.8 Flash, called from the server over its REST API.</a:t>
            </a:r>
            <a:endParaRPr lang="en-US" sz="2000" dirty="0"/>
          </a:p>
          <a:p>
            <a:pPr marL="342900" indent="-342900">
              <a:spcAft>
                <a:spcPts val="1200"/>
              </a:spcAft>
              <a:buSzPct val="100000"/>
              <a:buChar char="•"/>
            </a:pPr>
            <a:r>
              <a:rPr lang="en-US" sz="2000" dirty="0">
                <a:solidFill>
                  <a:srgbClr val="1F2933"/>
                </a:solidFill>
                <a:latin typeface="Calibri" pitchFamily="34" charset="0"/>
                <a:ea typeface="Calibri" pitchFamily="34" charset="-122"/>
                <a:cs typeface="Calibri" pitchFamily="34" charset="-120"/>
              </a:rPr>
              <a:t>File storage: five storage nodes holding replicated chunks of every file, accessed only through a FileStore interface.</a:t>
            </a:r>
            <a:endParaRPr lang="en-US" sz="2000" dirty="0"/>
          </a:p>
          <a:p>
            <a:pPr marL="342900" indent="-342900">
              <a:spcAft>
                <a:spcPts val="1200"/>
              </a:spcAft>
              <a:buSzPct val="100000"/>
              <a:buChar char="•"/>
            </a:pPr>
            <a:r>
              <a:rPr lang="en-US" sz="2000" dirty="0">
                <a:solidFill>
                  <a:srgbClr val="1F2933"/>
                </a:solidFill>
                <a:latin typeface="Calibri" pitchFamily="34" charset="0"/>
                <a:ea typeface="Calibri" pitchFamily="34" charset="-122"/>
                <a:cs typeface="Calibri" pitchFamily="34" charset="-120"/>
              </a:rPr>
              <a:t>Built in steps: core drive, then sign-in and approval, tiering, admin panel, and AI summary.</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200" b="1" dirty="0">
                <a:solidFill>
                  <a:srgbClr val="1F2933"/>
                </a:solidFill>
                <a:latin typeface="Cambria" pitchFamily="34" charset="0"/>
                <a:ea typeface="Cambria" pitchFamily="34" charset="-122"/>
                <a:cs typeface="Cambria" pitchFamily="34" charset="-120"/>
              </a:rPr>
              <a:t>Methodology: how files are stored</a:t>
            </a:r>
            <a:endParaRPr lang="en-US" sz="3200" dirty="0"/>
          </a:p>
        </p:txBody>
      </p:sp>
      <p:sp>
        <p:nvSpPr>
          <p:cNvPr id="3" name="Text 1"/>
          <p:cNvSpPr txBox="1"/>
          <p:nvPr/>
        </p:nvSpPr>
        <p:spPr>
          <a:xfrm>
            <a:off x="640080" y="1463040"/>
            <a:ext cx="10881360" cy="4663440"/>
          </a:xfrm>
          <a:prstGeom prst="rect">
            <a:avLst/>
          </a:prstGeom>
          <a:noFill/>
          <a:ln/>
        </p:spPr>
        <p:txBody>
          <a:bodyPr wrap="square" lIns="0" tIns="0" rIns="0" bIns="0" rtlCol="0" anchor="t"/>
          <a:lstStyle/>
          <a:p>
            <a:pPr marL="342900" indent="-342900">
              <a:spcAft>
                <a:spcPts val="1200"/>
              </a:spcAft>
              <a:buSzPct val="100000"/>
              <a:buChar char="•"/>
            </a:pPr>
            <a:r>
              <a:rPr lang="en-US" sz="1900" dirty="0">
                <a:solidFill>
                  <a:srgbClr val="1F2933"/>
                </a:solidFill>
                <a:latin typeface="Calibri" pitchFamily="34" charset="0"/>
                <a:ea typeface="Calibri" pitchFamily="34" charset="-122"/>
                <a:cs typeface="Calibri" pitchFamily="34" charset="-120"/>
              </a:rPr>
              <a:t>File details (name, size, owner, folder, tier) are saved in PostgreSQL.</a:t>
            </a:r>
            <a:endParaRPr lang="en-US" sz="1900" dirty="0"/>
          </a:p>
          <a:p>
            <a:pPr marL="342900" indent="-342900">
              <a:spcAft>
                <a:spcPts val="1200"/>
              </a:spcAft>
              <a:buSzPct val="100000"/>
              <a:buChar char="•"/>
            </a:pPr>
            <a:r>
              <a:rPr lang="en-US" sz="1900" dirty="0">
                <a:solidFill>
                  <a:srgbClr val="1F2933"/>
                </a:solidFill>
                <a:latin typeface="Calibri" pitchFamily="34" charset="0"/>
                <a:ea typeface="Calibri" pitchFamily="34" charset="-122"/>
                <a:cs typeface="Calibri" pitchFamily="34" charset="-120"/>
              </a:rPr>
              <a:t>The file's contents are stored under a random id (UUID), never under the user's file name, so two files with the same name cannot clash.</a:t>
            </a:r>
            <a:endParaRPr lang="en-US" sz="1900" dirty="0"/>
          </a:p>
          <a:p>
            <a:pPr marL="342900" indent="-342900">
              <a:spcAft>
                <a:spcPts val="1200"/>
              </a:spcAft>
              <a:buSzPct val="100000"/>
              <a:buChar char="•"/>
            </a:pPr>
            <a:r>
              <a:rPr lang="en-US" sz="1900" dirty="0">
                <a:solidFill>
                  <a:srgbClr val="1F2933"/>
                </a:solidFill>
                <a:latin typeface="Calibri" pitchFamily="34" charset="0"/>
                <a:ea typeface="Calibri" pitchFamily="34" charset="-122"/>
                <a:cs typeface="Calibri" pitchFamily="34" charset="-120"/>
              </a:rPr>
              <a:t>Folders are database rows with a parent id, so nesting and moving need no disk changes.</a:t>
            </a:r>
            <a:endParaRPr lang="en-US" sz="1900" dirty="0"/>
          </a:p>
          <a:p>
            <a:pPr marL="342900" indent="-342900">
              <a:spcAft>
                <a:spcPts val="1200"/>
              </a:spcAft>
              <a:buSzPct val="100000"/>
              <a:buChar char="•"/>
            </a:pPr>
            <a:r>
              <a:rPr lang="en-US" sz="1900" dirty="0">
                <a:solidFill>
                  <a:srgbClr val="1F2933"/>
                </a:solidFill>
                <a:latin typeface="Calibri" pitchFamily="34" charset="0"/>
                <a:ea typeface="Calibri" pitchFamily="34" charset="-122"/>
                <a:cs typeface="Calibri" pitchFamily="34" charset="-120"/>
              </a:rPr>
              <a:t>Each storage node has two areas: hot (plain files) and cold (gzip-compressed files).</a:t>
            </a:r>
            <a:endParaRPr lang="en-US" sz="1900" dirty="0"/>
          </a:p>
          <a:p>
            <a:pPr marL="342900" indent="-342900">
              <a:spcAft>
                <a:spcPts val="1200"/>
              </a:spcAft>
              <a:buSzPct val="100000"/>
              <a:buChar char="•"/>
            </a:pPr>
            <a:r>
              <a:rPr lang="en-US" sz="1900" dirty="0">
                <a:solidFill>
                  <a:srgbClr val="1F2933"/>
                </a:solidFill>
                <a:latin typeface="Calibri" pitchFamily="34" charset="0"/>
                <a:ea typeface="Calibri" pitchFamily="34" charset="-122"/>
                <a:cs typeface="Calibri" pitchFamily="34" charset="-120"/>
              </a:rPr>
              <a:t>The rest of the application reads and writes files only through one interface (FileStore), so the storage underneath can change, for example from local folders to separate containers or servers, without changing the rest of the code.</a:t>
            </a:r>
            <a:endParaRPr lang="en-US" sz="1900" dirty="0"/>
          </a:p>
          <a:p>
            <a:pPr marL="342900" indent="-342900">
              <a:spcAft>
                <a:spcPts val="1200"/>
              </a:spcAft>
              <a:buSzPct val="100000"/>
              <a:buChar char="•"/>
            </a:pPr>
            <a:r>
              <a:rPr lang="en-US" sz="1900" dirty="0">
                <a:solidFill>
                  <a:srgbClr val="1F2933"/>
                </a:solidFill>
                <a:latin typeface="Calibri" pitchFamily="34" charset="0"/>
                <a:ea typeface="Calibri" pitchFamily="34" charset="-122"/>
                <a:cs typeface="Calibri" pitchFamily="34" charset="-120"/>
              </a:rPr>
              <a:t>An upload first writes the file's bytes to storage and only then saves its record in the database in one short step, so the database is never held locked during slow disk work; if saving the record fails, the written bytes are removed.</a:t>
            </a:r>
            <a:endParaRPr lang="en-US" sz="19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200" b="1" dirty="0">
                <a:solidFill>
                  <a:srgbClr val="1F2933"/>
                </a:solidFill>
                <a:latin typeface="Cambria" pitchFamily="34" charset="0"/>
                <a:ea typeface="Cambria" pitchFamily="34" charset="-122"/>
                <a:cs typeface="Cambria" pitchFamily="34" charset="-120"/>
              </a:rPr>
              <a:t>Methodology: distributed storage and replication</a:t>
            </a:r>
            <a:endParaRPr lang="en-US" sz="3200" dirty="0"/>
          </a:p>
        </p:txBody>
      </p:sp>
      <p:sp>
        <p:nvSpPr>
          <p:cNvPr id="3" name="Text 1"/>
          <p:cNvSpPr txBox="1"/>
          <p:nvPr/>
        </p:nvSpPr>
        <p:spPr>
          <a:xfrm>
            <a:off x="640080" y="1463040"/>
            <a:ext cx="10881360" cy="46634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F2933"/>
                </a:solidFill>
                <a:latin typeface="Calibri" pitchFamily="34" charset="0"/>
                <a:ea typeface="Calibri" pitchFamily="34" charset="-122"/>
                <a:cs typeface="Calibri" pitchFamily="34" charset="-120"/>
              </a:rPr>
              <a:t>Nodes: the system has 5 storage nodes, each run as a separate Docker container. Docker is used to simulate 5 separate machines on one computer: every container has its own process, storage and network address, so stopping one is a genuine node failure, and the same image can later run on real machines.</a:t>
            </a:r>
            <a:endParaRPr lang="en-US" sz="1600" dirty="0"/>
          </a:p>
          <a:p>
            <a:pPr marL="342900" indent="-342900">
              <a:spcAft>
                <a:spcPts val="1200"/>
              </a:spcAft>
              <a:buSzPct val="100000"/>
              <a:buChar char="•"/>
            </a:pPr>
            <a:r>
              <a:rPr lang="en-US" sz="1600" dirty="0">
                <a:solidFill>
                  <a:srgbClr val="1F2933"/>
                </a:solidFill>
                <a:latin typeface="Calibri" pitchFamily="34" charset="0"/>
                <a:ea typeface="Calibri" pitchFamily="34" charset="-122"/>
                <a:cs typeface="Calibri" pitchFamily="34" charset="-120"/>
              </a:rPr>
              <a:t>Chunking: every file is split into small pieces called chunks (256 KiB each). A small manifest records how many chunks the file has.</a:t>
            </a:r>
            <a:endParaRPr lang="en-US" sz="1600" dirty="0"/>
          </a:p>
          <a:p>
            <a:pPr marL="342900" indent="-342900">
              <a:spcAft>
                <a:spcPts val="1200"/>
              </a:spcAft>
              <a:buSzPct val="100000"/>
              <a:buChar char="•"/>
            </a:pPr>
            <a:r>
              <a:rPr lang="en-US" sz="1600" dirty="0">
                <a:solidFill>
                  <a:srgbClr val="1F2933"/>
                </a:solidFill>
                <a:latin typeface="Calibri" pitchFamily="34" charset="0"/>
                <a:ea typeface="Calibri" pitchFamily="34" charset="-122"/>
                <a:cs typeface="Calibri" pitchFamily="34" charset="-120"/>
              </a:rPr>
              <a:t>Replication: every chunk is stored on 3 different nodes, so there are 3 copies. A hash of the chunk id picks which 3, so chunks spread evenly and no node holds a whole file.</a:t>
            </a:r>
            <a:endParaRPr lang="en-US" sz="1600" dirty="0"/>
          </a:p>
          <a:p>
            <a:pPr marL="342900" indent="-342900">
              <a:spcAft>
                <a:spcPts val="1200"/>
              </a:spcAft>
              <a:buSzPct val="100000"/>
              <a:buChar char="•"/>
            </a:pPr>
            <a:r>
              <a:rPr lang="en-US" sz="1600" dirty="0">
                <a:solidFill>
                  <a:srgbClr val="1F2933"/>
                </a:solidFill>
                <a:latin typeface="Calibri" pitchFamily="34" charset="0"/>
                <a:ea typeface="Calibri" pitchFamily="34" charset="-122"/>
                <a:cs typeface="Calibri" pitchFamily="34" charset="-120"/>
              </a:rPr>
              <a:t>Fault tolerance: even if 2 nodes are down at the same moment, every chunk still has at least 1 copy on a working node, so every file can still be read.</a:t>
            </a:r>
            <a:endParaRPr lang="en-US" sz="1600" dirty="0"/>
          </a:p>
          <a:p>
            <a:pPr marL="342900" indent="-342900">
              <a:spcAft>
                <a:spcPts val="1200"/>
              </a:spcAft>
              <a:buSzPct val="100000"/>
              <a:buChar char="•"/>
            </a:pPr>
            <a:r>
              <a:rPr lang="en-US" sz="1600" dirty="0">
                <a:solidFill>
                  <a:srgbClr val="1F2933"/>
                </a:solidFill>
                <a:latin typeface="Calibri" pitchFamily="34" charset="0"/>
                <a:ea typeface="Calibri" pitchFamily="34" charset="-122"/>
                <a:cs typeface="Calibri" pitchFamily="34" charset="-120"/>
              </a:rPr>
              <a:t>Failure detection: the backend checks every node every 3 seconds; a node that does not answer is marked unreachable automatically.</a:t>
            </a:r>
            <a:endParaRPr lang="en-US" sz="1600" dirty="0"/>
          </a:p>
          <a:p>
            <a:pPr marL="342900" indent="-342900">
              <a:spcAft>
                <a:spcPts val="1200"/>
              </a:spcAft>
              <a:buSzPct val="100000"/>
              <a:buChar char="•"/>
            </a:pPr>
            <a:r>
              <a:rPr lang="en-US" sz="1600" dirty="0">
                <a:solidFill>
                  <a:srgbClr val="1F2933"/>
                </a:solidFill>
                <a:latin typeface="Calibri" pitchFamily="34" charset="0"/>
                <a:ea typeface="Calibri" pitchFamily="34" charset="-122"/>
                <a:cs typeface="Calibri" pitchFamily="34" charset="-120"/>
              </a:rPr>
              <a:t>Self-healing: when a node is lost, its missing copies are re-created on working nodes, so each chunk is back to 3 copies. A node that returns is brought up to date.</a:t>
            </a:r>
            <a:endParaRPr lang="en-US" sz="1600" dirty="0"/>
          </a:p>
          <a:p>
            <a:pPr marL="342900" indent="-342900">
              <a:spcAft>
                <a:spcPts val="1200"/>
              </a:spcAft>
              <a:buSzPct val="100000"/>
              <a:buChar char="•"/>
            </a:pPr>
            <a:r>
              <a:rPr lang="en-US" sz="1600" dirty="0">
                <a:solidFill>
                  <a:srgbClr val="1F2933"/>
                </a:solidFill>
                <a:latin typeface="Calibri" pitchFamily="34" charset="0"/>
                <a:ea typeface="Calibri" pitchFamily="34" charset="-122"/>
                <a:cs typeface="Calibri" pitchFamily="34" charset="-120"/>
              </a:rPr>
              <a:t>Limits: if 3 nodes are down at the same moment, a chunk whose 3 copies were exactly on those nodes cannot be read until one returns. All containers run on one machine, so the failure of the whole machine is not covered.</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200" b="1" dirty="0">
                <a:solidFill>
                  <a:srgbClr val="1F2933"/>
                </a:solidFill>
                <a:latin typeface="Cambria" pitchFamily="34" charset="0"/>
                <a:ea typeface="Cambria" pitchFamily="34" charset="-122"/>
                <a:cs typeface="Cambria" pitchFamily="34" charset="-120"/>
              </a:rPr>
              <a:t>Methodology: open-source comparison</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0881360" cy="914400"/>
        </p:xfrm>
        <a:graphic>
          <a:graphicData uri="http://schemas.openxmlformats.org/drawingml/2006/table">
            <a:tbl>
              <a:tblPr/>
              <a:tblGrid>
                <a:gridCol w="1737360"/>
                <a:gridCol w="2194560"/>
                <a:gridCol w="2377440"/>
                <a:gridCol w="2103120"/>
                <a:gridCol w="2468880"/>
              </a:tblGrid>
              <a:tr h="0">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Idea</a:t>
                      </a:r>
                      <a:endParaRPr lang="en-US" sz="14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EEF1F5"/>
                    </a:solidFill>
                  </a:tcPr>
                </a:tc>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HDFS</a:t>
                      </a:r>
                      <a:endParaRPr lang="en-US" sz="14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EEF1F5"/>
                    </a:solidFill>
                  </a:tcPr>
                </a:tc>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Ceph</a:t>
                      </a:r>
                      <a:endParaRPr lang="en-US" sz="14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EEF1F5"/>
                    </a:solidFill>
                  </a:tcPr>
                </a:tc>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Cassandra</a:t>
                      </a:r>
                      <a:endParaRPr lang="en-US" sz="14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EEF1F5"/>
                    </a:solidFill>
                  </a:tcPr>
                </a:tc>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This project</a:t>
                      </a:r>
                      <a:endParaRPr lang="en-US" sz="14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EEF1F5"/>
                    </a:solidFill>
                  </a:tcPr>
                </a:tc>
              </a:tr>
              <a:tr h="0">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Unit of data</a:t>
                      </a:r>
                      <a:endParaRPr lang="en-US" sz="1300" dirty="0">
                        <a:latin typeface="Calibri" charset="0"/>
                        <a:ea typeface="Calibri" charset="0"/>
                        <a:cs typeface="Calibri" charset="0"/>
                      </a:endParaRPr>
                    </a:p>
                  </a:txBody>
                  <a:tcPr marL="73152" marR="73152" marT="54864" marB="54864"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Blocks (128 MB default)</a:t>
                      </a:r>
                      <a:endParaRPr lang="en-US" sz="1300" dirty="0">
                        <a:latin typeface="Calibri" charset="0"/>
                        <a:ea typeface="Calibri" charset="0"/>
                        <a:cs typeface="Calibri" charset="0"/>
                      </a:endParaRPr>
                    </a:p>
                  </a:txBody>
                  <a:tcPr marL="73152" marR="73152" marT="54864" marB="54864"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Objects in placement groups</a:t>
                      </a:r>
                      <a:endParaRPr lang="en-US" sz="1300" dirty="0">
                        <a:latin typeface="Calibri" charset="0"/>
                        <a:ea typeface="Calibri" charset="0"/>
                        <a:cs typeface="Calibri" charset="0"/>
                      </a:endParaRPr>
                    </a:p>
                  </a:txBody>
                  <a:tcPr marL="73152" marR="73152" marT="54864" marB="54864"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Rows by partition key</a:t>
                      </a:r>
                      <a:endParaRPr lang="en-US" sz="1300" dirty="0">
                        <a:latin typeface="Calibri" charset="0"/>
                        <a:ea typeface="Calibri" charset="0"/>
                        <a:cs typeface="Calibri" charset="0"/>
                      </a:endParaRPr>
                    </a:p>
                  </a:txBody>
                  <a:tcPr marL="73152" marR="73152" marT="54864" marB="54864"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256 KiB chunks plus a manifest</a:t>
                      </a:r>
                      <a:endParaRPr lang="en-US" sz="1300" dirty="0">
                        <a:latin typeface="Calibri" charset="0"/>
                        <a:ea typeface="Calibri" charset="0"/>
                        <a:cs typeface="Calibri" charset="0"/>
                      </a:endParaRPr>
                    </a:p>
                  </a:txBody>
                  <a:tcPr marL="73152" marR="73152" marT="54864" marB="54864"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0">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Copies</a:t>
                      </a:r>
                      <a:endParaRPr lang="en-US" sz="1300" dirty="0">
                        <a:latin typeface="Calibri" charset="0"/>
                        <a:ea typeface="Calibri" charset="0"/>
                        <a:cs typeface="Calibri" charset="0"/>
                      </a:endParaRPr>
                    </a:p>
                  </a:txBody>
                  <a:tcPr marL="73152" marR="73152" marT="54864" marB="54864"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Replication factor 3 by default</a:t>
                      </a:r>
                      <a:endParaRPr lang="en-US" sz="1300" dirty="0">
                        <a:latin typeface="Calibri" charset="0"/>
                        <a:ea typeface="Calibri" charset="0"/>
                        <a:cs typeface="Calibri" charset="0"/>
                      </a:endParaRPr>
                    </a:p>
                  </a:txBody>
                  <a:tcPr marL="73152" marR="73152" marT="54864" marB="54864"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Replicated pools, 3 copies by default, or erasure coding</a:t>
                      </a:r>
                      <a:endParaRPr lang="en-US" sz="1300" dirty="0">
                        <a:latin typeface="Calibri" charset="0"/>
                        <a:ea typeface="Calibri" charset="0"/>
                        <a:cs typeface="Calibri" charset="0"/>
                      </a:endParaRPr>
                    </a:p>
                  </a:txBody>
                  <a:tcPr marL="73152" marR="73152" marT="54864" marB="54864"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Replication factor, commonly 3</a:t>
                      </a:r>
                      <a:endParaRPr lang="en-US" sz="1300" dirty="0">
                        <a:latin typeface="Calibri" charset="0"/>
                        <a:ea typeface="Calibri" charset="0"/>
                        <a:cs typeface="Calibri" charset="0"/>
                      </a:endParaRPr>
                    </a:p>
                  </a:txBody>
                  <a:tcPr marL="73152" marR="73152" marT="54864" marB="54864"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3 copies of every chunk</a:t>
                      </a:r>
                      <a:endParaRPr lang="en-US" sz="1300" dirty="0">
                        <a:latin typeface="Calibri" charset="0"/>
                        <a:ea typeface="Calibri" charset="0"/>
                        <a:cs typeface="Calibri" charset="0"/>
                      </a:endParaRPr>
                    </a:p>
                  </a:txBody>
                  <a:tcPr marL="73152" marR="73152" marT="54864" marB="54864"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0">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Placement</a:t>
                      </a:r>
                      <a:endParaRPr lang="en-US" sz="1300" dirty="0">
                        <a:latin typeface="Calibri" charset="0"/>
                        <a:ea typeface="Calibri" charset="0"/>
                        <a:cs typeface="Calibri" charset="0"/>
                      </a:endParaRPr>
                    </a:p>
                  </a:txBody>
                  <a:tcPr marL="73152" marR="73152" marT="54864" marB="54864"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NameNode chooses DataNodes</a:t>
                      </a:r>
                      <a:endParaRPr lang="en-US" sz="1300" dirty="0">
                        <a:latin typeface="Calibri" charset="0"/>
                        <a:ea typeface="Calibri" charset="0"/>
                        <a:cs typeface="Calibri" charset="0"/>
                      </a:endParaRPr>
                    </a:p>
                  </a:txBody>
                  <a:tcPr marL="73152" marR="73152" marT="54864" marB="54864"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CRUSH algorithm</a:t>
                      </a:r>
                      <a:endParaRPr lang="en-US" sz="1300" dirty="0">
                        <a:latin typeface="Calibri" charset="0"/>
                        <a:ea typeface="Calibri" charset="0"/>
                        <a:cs typeface="Calibri" charset="0"/>
                      </a:endParaRPr>
                    </a:p>
                  </a:txBody>
                  <a:tcPr marL="73152" marR="73152" marT="54864" marB="54864"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Consistent hashing ring</a:t>
                      </a:r>
                      <a:endParaRPr lang="en-US" sz="1300" dirty="0">
                        <a:latin typeface="Calibri" charset="0"/>
                        <a:ea typeface="Calibri" charset="0"/>
                        <a:cs typeface="Calibri" charset="0"/>
                      </a:endParaRPr>
                    </a:p>
                  </a:txBody>
                  <a:tcPr marL="73152" marR="73152" marT="54864" marB="54864"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Rendezvous hashing over nodes</a:t>
                      </a:r>
                      <a:endParaRPr lang="en-US" sz="1300" dirty="0">
                        <a:latin typeface="Calibri" charset="0"/>
                        <a:ea typeface="Calibri" charset="0"/>
                        <a:cs typeface="Calibri" charset="0"/>
                      </a:endParaRPr>
                    </a:p>
                  </a:txBody>
                  <a:tcPr marL="73152" marR="73152" marT="54864" marB="54864"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0">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Failure handling</a:t>
                      </a:r>
                      <a:endParaRPr lang="en-US" sz="1300" dirty="0">
                        <a:latin typeface="Calibri" charset="0"/>
                        <a:ea typeface="Calibri" charset="0"/>
                        <a:cs typeface="Calibri" charset="0"/>
                      </a:endParaRPr>
                    </a:p>
                  </a:txBody>
                  <a:tcPr marL="73152" marR="73152" marT="54864" marB="54864"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Re-replicates under-replicated blocks</a:t>
                      </a:r>
                      <a:endParaRPr lang="en-US" sz="1300" dirty="0">
                        <a:latin typeface="Calibri" charset="0"/>
                        <a:ea typeface="Calibri" charset="0"/>
                        <a:cs typeface="Calibri" charset="0"/>
                      </a:endParaRPr>
                    </a:p>
                  </a:txBody>
                  <a:tcPr marL="73152" marR="73152" marT="54864" marB="54864"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Self-healing and rebalancing</a:t>
                      </a:r>
                      <a:endParaRPr lang="en-US" sz="1300" dirty="0">
                        <a:latin typeface="Calibri" charset="0"/>
                        <a:ea typeface="Calibri" charset="0"/>
                        <a:cs typeface="Calibri" charset="0"/>
                      </a:endParaRPr>
                    </a:p>
                  </a:txBody>
                  <a:tcPr marL="73152" marR="73152" marT="54864" marB="54864"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Hinted handoff and repair</a:t>
                      </a:r>
                      <a:endParaRPr lang="en-US" sz="1300" dirty="0">
                        <a:latin typeface="Calibri" charset="0"/>
                        <a:ea typeface="Calibri" charset="0"/>
                        <a:cs typeface="Calibri" charset="0"/>
                      </a:endParaRPr>
                    </a:p>
                  </a:txBody>
                  <a:tcPr marL="73152" marR="73152" marT="54864" marB="54864"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Heartbeat detects failures; repair loop re-copies chunks and resyncs returning nodes</a:t>
                      </a:r>
                      <a:endParaRPr lang="en-US" sz="1300" dirty="0">
                        <a:latin typeface="Calibri" charset="0"/>
                        <a:ea typeface="Calibri" charset="0"/>
                        <a:cs typeface="Calibri" charset="0"/>
                      </a:endParaRPr>
                    </a:p>
                  </a:txBody>
                  <a:tcPr marL="73152" marR="73152" marT="54864" marB="54864"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0">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Adding capacity</a:t>
                      </a:r>
                      <a:endParaRPr lang="en-US" sz="1300" dirty="0">
                        <a:latin typeface="Calibri" charset="0"/>
                        <a:ea typeface="Calibri" charset="0"/>
                        <a:cs typeface="Calibri" charset="0"/>
                      </a:endParaRPr>
                    </a:p>
                  </a:txBody>
                  <a:tcPr marL="73152" marR="73152" marT="54864" marB="54864"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Add DataNodes, rebalance</a:t>
                      </a:r>
                      <a:endParaRPr lang="en-US" sz="1300" dirty="0">
                        <a:latin typeface="Calibri" charset="0"/>
                        <a:ea typeface="Calibri" charset="0"/>
                        <a:cs typeface="Calibri" charset="0"/>
                      </a:endParaRPr>
                    </a:p>
                  </a:txBody>
                  <a:tcPr marL="73152" marR="73152" marT="54864" marB="54864"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Add OSDs, data rebalances</a:t>
                      </a:r>
                      <a:endParaRPr lang="en-US" sz="1300" dirty="0">
                        <a:latin typeface="Calibri" charset="0"/>
                        <a:ea typeface="Calibri" charset="0"/>
                        <a:cs typeface="Calibri" charset="0"/>
                      </a:endParaRPr>
                    </a:p>
                  </a:txBody>
                  <a:tcPr marL="73152" marR="73152" marT="54864" marB="54864"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Add nodes to the ring</a:t>
                      </a:r>
                      <a:endParaRPr lang="en-US" sz="1300" dirty="0">
                        <a:latin typeface="Calibri" charset="0"/>
                        <a:ea typeface="Calibri" charset="0"/>
                        <a:cs typeface="Calibri" charset="0"/>
                      </a:endParaRPr>
                    </a:p>
                  </a:txBody>
                  <a:tcPr marL="73152" marR="73152" marT="54864" marB="54864"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Add a node; only its share moves</a:t>
                      </a:r>
                      <a:endParaRPr lang="en-US" sz="1300" dirty="0">
                        <a:latin typeface="Calibri" charset="0"/>
                        <a:ea typeface="Calibri" charset="0"/>
                        <a:cs typeface="Calibri" charset="0"/>
                      </a:endParaRPr>
                    </a:p>
                  </a:txBody>
                  <a:tcPr marL="73152" marR="73152" marT="54864" marB="54864" anchor="t">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bl>
          </a:graphicData>
        </a:graphic>
      </p:graphicFrame>
      <p:sp>
        <p:nvSpPr>
          <p:cNvPr id="4" name="Text 1"/>
          <p:cNvSpPr txBox="1"/>
          <p:nvPr/>
        </p:nvSpPr>
        <p:spPr>
          <a:xfrm>
            <a:off x="640080" y="5989320"/>
            <a:ext cx="10881360" cy="365760"/>
          </a:xfrm>
          <a:prstGeom prst="rect">
            <a:avLst/>
          </a:prstGeom>
          <a:noFill/>
          <a:ln/>
        </p:spPr>
        <p:txBody>
          <a:bodyPr wrap="square" lIns="0" tIns="0" rIns="0" bIns="0" rtlCol="0" anchor="ctr"/>
          <a:lstStyle/>
          <a:p>
            <a:pPr indent="0" marL="0">
              <a:buNone/>
            </a:pPr>
            <a:r>
              <a:rPr lang="en-US" sz="1500" i="1" dirty="0">
                <a:solidFill>
                  <a:srgbClr val="3E4C59"/>
                </a:solidFill>
                <a:latin typeface="Calibri" pitchFamily="34" charset="0"/>
                <a:ea typeface="Calibri" pitchFamily="34" charset="-122"/>
                <a:cs typeface="Calibri" pitchFamily="34" charset="-120"/>
              </a:rPr>
              <a:t>The same ideas at small scale: no claim of matching their scale, performance or erasure coding.</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200" b="1" dirty="0">
                <a:solidFill>
                  <a:srgbClr val="1F2933"/>
                </a:solidFill>
                <a:latin typeface="Cambria" pitchFamily="34" charset="0"/>
                <a:ea typeface="Cambria" pitchFamily="34" charset="-122"/>
                <a:cs typeface="Cambria" pitchFamily="34" charset="-120"/>
              </a:rPr>
              <a:t>Methodology: sign-in and access control</a:t>
            </a:r>
            <a:endParaRPr lang="en-US" sz="3200" dirty="0"/>
          </a:p>
        </p:txBody>
      </p:sp>
      <p:sp>
        <p:nvSpPr>
          <p:cNvPr id="3" name="Text 1"/>
          <p:cNvSpPr txBox="1"/>
          <p:nvPr/>
        </p:nvSpPr>
        <p:spPr>
          <a:xfrm>
            <a:off x="640080" y="1463040"/>
            <a:ext cx="10881360" cy="4663440"/>
          </a:xfrm>
          <a:prstGeom prst="rect">
            <a:avLst/>
          </a:prstGeom>
          <a:noFill/>
          <a:ln/>
        </p:spPr>
        <p:txBody>
          <a:bodyPr wrap="square" lIns="0" tIns="0" rIns="0" bIns="0" rtlCol="0" anchor="t"/>
          <a:lstStyle/>
          <a:p>
            <a:pPr marL="342900" indent="-342900">
              <a:spcAft>
                <a:spcPts val="1200"/>
              </a:spcAft>
              <a:buSzPct val="100000"/>
              <a:buChar char="•"/>
            </a:pPr>
            <a:r>
              <a:rPr lang="en-US" sz="2100" dirty="0">
                <a:solidFill>
                  <a:srgbClr val="1F2933"/>
                </a:solidFill>
                <a:latin typeface="Calibri" pitchFamily="34" charset="0"/>
                <a:ea typeface="Calibri" pitchFamily="34" charset="-122"/>
                <a:cs typeface="Calibri" pitchFamily="34" charset="-120"/>
              </a:rPr>
              <a:t>The user signs in with Google; the server receives an OpenID Connect identity (id, email, name).</a:t>
            </a:r>
            <a:endParaRPr lang="en-US" sz="2100" dirty="0"/>
          </a:p>
          <a:p>
            <a:pPr marL="342900" indent="-342900">
              <a:spcAft>
                <a:spcPts val="1200"/>
              </a:spcAft>
              <a:buSzPct val="100000"/>
              <a:buChar char="•"/>
            </a:pPr>
            <a:r>
              <a:rPr lang="en-US" sz="2100" dirty="0">
                <a:solidFill>
                  <a:srgbClr val="1F2933"/>
                </a:solidFill>
                <a:latin typeface="Calibri" pitchFamily="34" charset="0"/>
                <a:ea typeface="Calibri" pitchFamily="34" charset="-122"/>
                <a:cs typeface="Calibri" pitchFamily="34" charset="-120"/>
              </a:rPr>
              <a:t>A new account starts as "waiting" and cannot use the drive until an admin approves it.</a:t>
            </a:r>
            <a:endParaRPr lang="en-US" sz="2100" dirty="0"/>
          </a:p>
          <a:p>
            <a:pPr marL="342900" indent="-342900">
              <a:spcAft>
                <a:spcPts val="1200"/>
              </a:spcAft>
              <a:buSzPct val="100000"/>
              <a:buChar char="•"/>
            </a:pPr>
            <a:r>
              <a:rPr lang="en-US" sz="2100" dirty="0">
                <a:solidFill>
                  <a:srgbClr val="1F2933"/>
                </a:solidFill>
                <a:latin typeface="Calibri" pitchFamily="34" charset="0"/>
                <a:ea typeface="Calibri" pitchFamily="34" charset="-122"/>
                <a:cs typeface="Calibri" pitchFamily="34" charset="-120"/>
              </a:rPr>
              <a:t>After sign-in the browser holds a session cookie that is HttpOnly and SameSite=Lax.</a:t>
            </a:r>
            <a:endParaRPr lang="en-US" sz="2100" dirty="0"/>
          </a:p>
          <a:p>
            <a:pPr marL="342900" indent="-342900">
              <a:spcAft>
                <a:spcPts val="1200"/>
              </a:spcAft>
              <a:buSzPct val="100000"/>
              <a:buChar char="•"/>
            </a:pPr>
            <a:r>
              <a:rPr lang="en-US" sz="2100" dirty="0">
                <a:solidFill>
                  <a:srgbClr val="1F2933"/>
                </a:solidFill>
                <a:latin typeface="Calibri" pitchFamily="34" charset="0"/>
                <a:ea typeface="Calibri" pitchFamily="34" charset="-122"/>
                <a:cs typeface="Calibri" pitchFamily="34" charset="-120"/>
              </a:rPr>
              <a:t>Requests that change data must carry a CSRF token (XSRF-TOKEN cookie, X-XSRF-TOKEN header).</a:t>
            </a:r>
            <a:endParaRPr lang="en-US" sz="2100" dirty="0"/>
          </a:p>
          <a:p>
            <a:pPr marL="342900" indent="-342900">
              <a:spcAft>
                <a:spcPts val="1200"/>
              </a:spcAft>
              <a:buSzPct val="100000"/>
              <a:buChar char="•"/>
            </a:pPr>
            <a:r>
              <a:rPr lang="en-US" sz="2100" dirty="0">
                <a:solidFill>
                  <a:srgbClr val="1F2933"/>
                </a:solidFill>
                <a:latin typeface="Calibri" pitchFamily="34" charset="0"/>
                <a:ea typeface="Calibri" pitchFamily="34" charset="-122"/>
                <a:cs typeface="Calibri" pitchFamily="34" charset="-120"/>
              </a:rPr>
              <a:t>Role and status are re-read from the database on every request, so a rejection takes effect at once.</a:t>
            </a:r>
            <a:endParaRPr lang="en-US" sz="2100" dirty="0"/>
          </a:p>
          <a:p>
            <a:pPr marL="342900" indent="-342900">
              <a:spcAft>
                <a:spcPts val="1200"/>
              </a:spcAft>
              <a:buSzPct val="100000"/>
              <a:buChar char="•"/>
            </a:pPr>
            <a:r>
              <a:rPr lang="en-US" sz="2100" dirty="0">
                <a:solidFill>
                  <a:srgbClr val="1F2933"/>
                </a:solidFill>
                <a:latin typeface="Calibri" pitchFamily="34" charset="0"/>
                <a:ea typeface="Calibri" pitchFamily="34" charset="-122"/>
                <a:cs typeface="Calibri" pitchFamily="34" charset="-120"/>
              </a:rPr>
              <a:t>Every query is limited to the owner; another user's file or folder returns 404.</a:t>
            </a:r>
            <a:endParaRPr lang="en-US" sz="2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200" b="1" dirty="0">
                <a:solidFill>
                  <a:srgbClr val="1F2933"/>
                </a:solidFill>
                <a:latin typeface="Cambria" pitchFamily="34" charset="0"/>
                <a:ea typeface="Cambria" pitchFamily="34" charset="-122"/>
                <a:cs typeface="Cambria" pitchFamily="34" charset="-120"/>
              </a:rPr>
              <a:t>Methodology: smart storage management</a:t>
            </a:r>
            <a:endParaRPr lang="en-US" sz="3200" dirty="0"/>
          </a:p>
        </p:txBody>
      </p:sp>
      <p:sp>
        <p:nvSpPr>
          <p:cNvPr id="3" name="Text 1"/>
          <p:cNvSpPr txBox="1"/>
          <p:nvPr/>
        </p:nvSpPr>
        <p:spPr>
          <a:xfrm>
            <a:off x="640080" y="1463040"/>
            <a:ext cx="10881360" cy="466344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1F2933"/>
                </a:solidFill>
                <a:latin typeface="Calibri" pitchFamily="34" charset="0"/>
                <a:ea typeface="Calibri" pitchFamily="34" charset="-122"/>
                <a:cs typeface="Calibri" pitchFamily="34" charset="-120"/>
              </a:rPr>
              <a:t>Every download is logged: file, time, response time, and whether a restore was needed.</a:t>
            </a:r>
            <a:endParaRPr lang="en-US" sz="2000" dirty="0"/>
          </a:p>
          <a:p>
            <a:pPr marL="342900" indent="-342900">
              <a:spcAft>
                <a:spcPts val="1200"/>
              </a:spcAft>
              <a:buSzPct val="100000"/>
              <a:buChar char="•"/>
            </a:pPr>
            <a:r>
              <a:rPr lang="en-US" sz="2000" dirty="0">
                <a:solidFill>
                  <a:srgbClr val="1F2933"/>
                </a:solidFill>
                <a:latin typeface="Calibri" pitchFamily="34" charset="0"/>
                <a:ea typeface="Calibri" pitchFamily="34" charset="-122"/>
                <a:cs typeface="Calibri" pitchFamily="34" charset="-120"/>
              </a:rPr>
              <a:t>The optimizer runs every night at 03:00, and the admin can run it on demand.</a:t>
            </a:r>
            <a:endParaRPr lang="en-US" sz="2000" dirty="0"/>
          </a:p>
          <a:p>
            <a:pPr marL="342900" indent="-342900">
              <a:spcAft>
                <a:spcPts val="1200"/>
              </a:spcAft>
              <a:buSzPct val="100000"/>
              <a:buChar char="•"/>
            </a:pPr>
            <a:r>
              <a:rPr lang="en-US" sz="2000" dirty="0">
                <a:solidFill>
                  <a:srgbClr val="1F2933"/>
                </a:solidFill>
                <a:latin typeface="Calibri" pitchFamily="34" charset="0"/>
                <a:ea typeface="Calibri" pitchFamily="34" charset="-122"/>
                <a:cs typeface="Calibri" pitchFamily="34" charset="-120"/>
              </a:rPr>
              <a:t>It trains a logistic-regression model on the access history and scores every file.</a:t>
            </a:r>
            <a:endParaRPr lang="en-US" sz="2000" dirty="0"/>
          </a:p>
          <a:p>
            <a:pPr marL="342900" indent="-342900">
              <a:spcAft>
                <a:spcPts val="1200"/>
              </a:spcAft>
              <a:buSzPct val="100000"/>
              <a:buChar char="•"/>
            </a:pPr>
            <a:r>
              <a:rPr lang="en-US" sz="2000" dirty="0">
                <a:solidFill>
                  <a:srgbClr val="1F2933"/>
                </a:solidFill>
                <a:latin typeface="Calibri" pitchFamily="34" charset="0"/>
                <a:ea typeface="Calibri" pitchFamily="34" charset="-122"/>
                <a:cs typeface="Calibri" pitchFamily="34" charset="-120"/>
              </a:rPr>
              <a:t>A file with less than a 40% predicted chance of being opened is moved to cold storage and compressed.</a:t>
            </a:r>
            <a:endParaRPr lang="en-US" sz="2000" dirty="0"/>
          </a:p>
          <a:p>
            <a:pPr marL="342900" indent="-342900">
              <a:spcAft>
                <a:spcPts val="1200"/>
              </a:spcAft>
              <a:buSzPct val="100000"/>
              <a:buChar char="•"/>
            </a:pPr>
            <a:r>
              <a:rPr lang="en-US" sz="2000" dirty="0">
                <a:solidFill>
                  <a:srgbClr val="1F2933"/>
                </a:solidFill>
                <a:latin typeface="Calibri" pitchFamily="34" charset="0"/>
                <a:ea typeface="Calibri" pitchFamily="34" charset="-122"/>
                <a:cs typeface="Calibri" pitchFamily="34" charset="-120"/>
              </a:rPr>
              <a:t>Files uploaded within the last day are never archived.</a:t>
            </a:r>
            <a:endParaRPr lang="en-US" sz="2000" dirty="0"/>
          </a:p>
          <a:p>
            <a:pPr marL="342900" indent="-342900">
              <a:spcAft>
                <a:spcPts val="1200"/>
              </a:spcAft>
              <a:buSzPct val="100000"/>
              <a:buChar char="•"/>
            </a:pPr>
            <a:r>
              <a:rPr lang="en-US" sz="2000" dirty="0">
                <a:solidFill>
                  <a:srgbClr val="1F2933"/>
                </a:solidFill>
                <a:latin typeface="Calibri" pitchFamily="34" charset="0"/>
                <a:ea typeface="Calibri" pitchFamily="34" charset="-122"/>
                <a:cs typeface="Calibri" pitchFamily="34" charset="-120"/>
              </a:rPr>
              <a:t>With fewer than 10 training examples, a simple recency rule is used instead of the model.</a:t>
            </a:r>
            <a:endParaRPr lang="en-US" sz="2000" dirty="0"/>
          </a:p>
          <a:p>
            <a:pPr marL="342900" indent="-342900">
              <a:spcAft>
                <a:spcPts val="1200"/>
              </a:spcAft>
              <a:buSzPct val="100000"/>
              <a:buChar char="•"/>
            </a:pPr>
            <a:r>
              <a:rPr lang="en-US" sz="2000" dirty="0">
                <a:solidFill>
                  <a:srgbClr val="1F2933"/>
                </a:solidFill>
                <a:latin typeface="Calibri" pitchFamily="34" charset="0"/>
                <a:ea typeface="Calibri" pitchFamily="34" charset="-122"/>
                <a:cs typeface="Calibri" pitchFamily="34" charset="-120"/>
              </a:rPr>
              <a:t>Opening a cold file restores it to hot storage automatically; the user sees no difference.</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200" b="1" dirty="0">
                <a:solidFill>
                  <a:srgbClr val="1F2933"/>
                </a:solidFill>
                <a:latin typeface="Cambria" pitchFamily="34" charset="0"/>
                <a:ea typeface="Cambria" pitchFamily="34" charset="-122"/>
                <a:cs typeface="Cambria" pitchFamily="34" charset="-120"/>
              </a:rPr>
              <a:t>Methodology: AI storage summary (admin only)</a:t>
            </a:r>
            <a:endParaRPr lang="en-US" sz="3200" dirty="0"/>
          </a:p>
        </p:txBody>
      </p:sp>
      <p:sp>
        <p:nvSpPr>
          <p:cNvPr id="3" name="Text 1"/>
          <p:cNvSpPr txBox="1"/>
          <p:nvPr/>
        </p:nvSpPr>
        <p:spPr>
          <a:xfrm>
            <a:off x="640080" y="1463040"/>
            <a:ext cx="10881360" cy="466344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1F2933"/>
                </a:solidFill>
                <a:latin typeface="Calibri" pitchFamily="34" charset="0"/>
                <a:ea typeface="Calibri" pitchFamily="34" charset="-122"/>
                <a:cs typeface="Calibri" pitchFamily="34" charset="-120"/>
              </a:rPr>
              <a:t>The admin presses "Summarise" in the Storage operations tab; other users get 403.</a:t>
            </a:r>
            <a:endParaRPr lang="en-US" sz="2000" dirty="0"/>
          </a:p>
          <a:p>
            <a:pPr marL="342900" indent="-342900">
              <a:spcAft>
                <a:spcPts val="1200"/>
              </a:spcAft>
              <a:buSzPct val="100000"/>
              <a:buChar char="•"/>
            </a:pPr>
            <a:r>
              <a:rPr lang="en-US" sz="2000" dirty="0">
                <a:solidFill>
                  <a:srgbClr val="1F2933"/>
                </a:solidFill>
                <a:latin typeface="Calibri" pitchFamily="34" charset="0"/>
                <a:ea typeface="Calibri" pitchFamily="34" charset="-122"/>
                <a:cs typeface="Calibri" pitchFamily="34" charset="-120"/>
              </a:rPr>
              <a:t>The server builds a snapshot of numbers only: file counts, bytes, hot/cold split, downloads, restores, timings.</a:t>
            </a:r>
            <a:endParaRPr lang="en-US" sz="2000" dirty="0"/>
          </a:p>
          <a:p>
            <a:pPr marL="342900" indent="-342900">
              <a:spcAft>
                <a:spcPts val="1200"/>
              </a:spcAft>
              <a:buSzPct val="100000"/>
              <a:buChar char="•"/>
            </a:pPr>
            <a:r>
              <a:rPr lang="en-US" sz="2000" dirty="0">
                <a:solidFill>
                  <a:srgbClr val="1F2933"/>
                </a:solidFill>
                <a:latin typeface="Calibri" pitchFamily="34" charset="0"/>
                <a:ea typeface="Calibri" pitchFamily="34" charset="-122"/>
                <a:cs typeface="Calibri" pitchFamily="34" charset="-120"/>
              </a:rPr>
              <a:t>File names, file contents and user details are never sent to the AI.</a:t>
            </a:r>
            <a:endParaRPr lang="en-US" sz="2000" dirty="0"/>
          </a:p>
          <a:p>
            <a:pPr marL="342900" indent="-342900">
              <a:spcAft>
                <a:spcPts val="1200"/>
              </a:spcAft>
              <a:buSzPct val="100000"/>
              <a:buChar char="•"/>
            </a:pPr>
            <a:r>
              <a:rPr lang="en-US" sz="2000" dirty="0">
                <a:solidFill>
                  <a:srgbClr val="1F2933"/>
                </a:solidFill>
                <a:latin typeface="Calibri" pitchFamily="34" charset="0"/>
                <a:ea typeface="Calibri" pitchFamily="34" charset="-122"/>
                <a:cs typeface="Calibri" pitchFamily="34" charset="-120"/>
              </a:rPr>
              <a:t>The snapshot goes to Gemini 3.8 Flash (generateContent REST call), which is asked to reply in JSON with a summary and suggestions.</a:t>
            </a:r>
            <a:endParaRPr lang="en-US" sz="2000" dirty="0"/>
          </a:p>
          <a:p>
            <a:pPr marL="342900" indent="-342900">
              <a:spcAft>
                <a:spcPts val="1200"/>
              </a:spcAft>
              <a:buSzPct val="100000"/>
              <a:buChar char="•"/>
            </a:pPr>
            <a:r>
              <a:rPr lang="en-US" sz="2000" dirty="0">
                <a:solidFill>
                  <a:srgbClr val="1F2933"/>
                </a:solidFill>
                <a:latin typeface="Calibri" pitchFamily="34" charset="0"/>
                <a:ea typeface="Calibri" pitchFamily="34" charset="-122"/>
                <a:cs typeface="Calibri" pitchFamily="34" charset="-120"/>
              </a:rPr>
              <a:t>The answer is cached for 5 minutes, and nothing is changed automatically.</a:t>
            </a:r>
            <a:endParaRPr lang="en-US" sz="2000" dirty="0"/>
          </a:p>
          <a:p>
            <a:pPr marL="342900" indent="-342900">
              <a:spcAft>
                <a:spcPts val="1200"/>
              </a:spcAft>
              <a:buSzPct val="100000"/>
              <a:buChar char="•"/>
            </a:pPr>
            <a:r>
              <a:rPr lang="en-US" sz="2000" dirty="0">
                <a:solidFill>
                  <a:srgbClr val="1F2933"/>
                </a:solidFill>
                <a:latin typeface="Calibri" pitchFamily="34" charset="0"/>
                <a:ea typeface="Calibri" pitchFamily="34" charset="-122"/>
                <a:cs typeface="Calibri" pitchFamily="34" charset="-120"/>
              </a:rPr>
              <a:t>If no API key is set or the call fails, a built-in summary is written from the same numbers and labelled as such.</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200" b="1" dirty="0">
                <a:solidFill>
                  <a:srgbClr val="1F2933"/>
                </a:solidFill>
                <a:latin typeface="Cambria" pitchFamily="34" charset="0"/>
                <a:ea typeface="Cambria" pitchFamily="34" charset="-122"/>
                <a:cs typeface="Cambria" pitchFamily="34" charset="-120"/>
              </a:rPr>
              <a:t>Methodology: database design (PostgreSQL)</a:t>
            </a:r>
            <a:endParaRPr lang="en-US" sz="3200" dirty="0"/>
          </a:p>
        </p:txBody>
      </p:sp>
      <p:sp>
        <p:nvSpPr>
          <p:cNvPr id="3" name="Text 1"/>
          <p:cNvSpPr txBox="1"/>
          <p:nvPr/>
        </p:nvSpPr>
        <p:spPr>
          <a:xfrm>
            <a:off x="640080" y="1463040"/>
            <a:ext cx="10881360" cy="466344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1F2933"/>
                </a:solidFill>
                <a:latin typeface="Calibri" pitchFamily="34" charset="0"/>
                <a:ea typeface="Calibri" pitchFamily="34" charset="-122"/>
                <a:cs typeface="Calibri" pitchFamily="34" charset="-120"/>
              </a:rPr>
              <a:t>Four main tables: accounts, folders, files, and access logs.</a:t>
            </a:r>
            <a:endParaRPr lang="en-US" sz="2000" dirty="0"/>
          </a:p>
          <a:p>
            <a:pPr marL="342900" indent="-342900">
              <a:spcAft>
                <a:spcPts val="1200"/>
              </a:spcAft>
              <a:buSzPct val="100000"/>
              <a:buChar char="•"/>
            </a:pPr>
            <a:r>
              <a:rPr lang="en-US" sz="2000" dirty="0">
                <a:solidFill>
                  <a:srgbClr val="1F2933"/>
                </a:solidFill>
                <a:latin typeface="Calibri" pitchFamily="34" charset="0"/>
                <a:ea typeface="Calibri" pitchFamily="34" charset="-122"/>
                <a:cs typeface="Calibri" pitchFamily="34" charset="-120"/>
              </a:rPr>
              <a:t>accounts: Google subject id and email are unique; role (member / administrator) and status (waiting / approved / rejected) are checked values.</a:t>
            </a:r>
            <a:endParaRPr lang="en-US" sz="2000" dirty="0"/>
          </a:p>
          <a:p>
            <a:pPr marL="342900" indent="-342900">
              <a:spcAft>
                <a:spcPts val="1200"/>
              </a:spcAft>
              <a:buSzPct val="100000"/>
              <a:buChar char="•"/>
            </a:pPr>
            <a:r>
              <a:rPr lang="en-US" sz="2000" dirty="0">
                <a:solidFill>
                  <a:srgbClr val="1F2933"/>
                </a:solidFill>
                <a:latin typeface="Calibri" pitchFamily="34" charset="0"/>
                <a:ea typeface="Calibri" pitchFamily="34" charset="-122"/>
                <a:cs typeface="Calibri" pitchFamily="34" charset="-120"/>
              </a:rPr>
              <a:t>folders: owner and parent folder, so folders can nest to any depth.</a:t>
            </a:r>
            <a:endParaRPr lang="en-US" sz="2000" dirty="0"/>
          </a:p>
          <a:p>
            <a:pPr marL="342900" indent="-342900">
              <a:spcAft>
                <a:spcPts val="1200"/>
              </a:spcAft>
              <a:buSzPct val="100000"/>
              <a:buChar char="•"/>
            </a:pPr>
            <a:r>
              <a:rPr lang="en-US" sz="2000" dirty="0">
                <a:solidFill>
                  <a:srgbClr val="1F2933"/>
                </a:solidFill>
                <a:latin typeface="Calibri" pitchFamily="34" charset="0"/>
                <a:ea typeface="Calibri" pitchFamily="34" charset="-122"/>
                <a:cs typeface="Calibri" pitchFamily="34" charset="-120"/>
              </a:rPr>
              <a:t>files: owner, folder, name, size, stored size, tier (hot / cold), hot probability, upload and last-access time.</a:t>
            </a:r>
            <a:endParaRPr lang="en-US" sz="2000" dirty="0"/>
          </a:p>
          <a:p>
            <a:pPr marL="342900" indent="-342900">
              <a:spcAft>
                <a:spcPts val="1200"/>
              </a:spcAft>
              <a:buSzPct val="100000"/>
              <a:buChar char="•"/>
            </a:pPr>
            <a:r>
              <a:rPr lang="en-US" sz="2000" dirty="0">
                <a:solidFill>
                  <a:srgbClr val="1F2933"/>
                </a:solidFill>
                <a:latin typeface="Calibri" pitchFamily="34" charset="0"/>
                <a:ea typeface="Calibri" pitchFamily="34" charset="-122"/>
                <a:cs typeface="Calibri" pitchFamily="34" charset="-120"/>
              </a:rPr>
              <a:t>access logs: one row per download, with response time and a "restored from cold" flag.</a:t>
            </a:r>
            <a:endParaRPr lang="en-US" sz="2000" dirty="0"/>
          </a:p>
          <a:p>
            <a:pPr marL="342900" indent="-342900">
              <a:spcAft>
                <a:spcPts val="1200"/>
              </a:spcAft>
              <a:buSzPct val="100000"/>
              <a:buChar char="•"/>
            </a:pPr>
            <a:r>
              <a:rPr lang="en-US" sz="2000" dirty="0">
                <a:solidFill>
                  <a:srgbClr val="1F2933"/>
                </a:solidFill>
                <a:latin typeface="Calibri" pitchFamily="34" charset="0"/>
                <a:ea typeface="Calibri" pitchFamily="34" charset="-122"/>
                <a:cs typeface="Calibri" pitchFamily="34" charset="-120"/>
              </a:rPr>
              <a:t>Indexes support lookups by owner, folder and file; links between tables are ids checked by the application.</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200" b="1" dirty="0">
                <a:solidFill>
                  <a:srgbClr val="1F2933"/>
                </a:solidFill>
                <a:latin typeface="Cambria" pitchFamily="34" charset="0"/>
                <a:ea typeface="Cambria" pitchFamily="34" charset="-122"/>
                <a:cs typeface="Cambria" pitchFamily="34" charset="-120"/>
              </a:rPr>
              <a:t>Block diagram</a:t>
            </a:r>
            <a:endParaRPr lang="en-US" sz="3200" dirty="0"/>
          </a:p>
        </p:txBody>
      </p:sp>
      <p:pic>
        <p:nvPicPr>
          <p:cNvPr id="3" name="Architecture diagram" descr="System architecture block diagram">    </p:cNvPr>
          <p:cNvPicPr>
            <a:picLocks noChangeAspect="1"/>
          </p:cNvPicPr>
          <p:nvPr/>
        </p:nvPicPr>
        <p:blipFill>
          <a:blip r:embed="rId1"/>
          <a:stretch>
            <a:fillRect/>
          </a:stretch>
        </p:blipFill>
        <p:spPr>
          <a:xfrm>
            <a:off x="2244428" y="1417320"/>
            <a:ext cx="3461722" cy="4572000"/>
          </a:xfrm>
          <a:prstGeom prst="rect">
            <a:avLst/>
          </a:prstGeom>
        </p:spPr>
      </p:pic>
      <p:pic>
        <p:nvPicPr>
          <p:cNvPr id="4" name="AI flow diagram" descr="Admin AI summary flow block diagram">    </p:cNvPr>
          <p:cNvPicPr>
            <a:picLocks noChangeAspect="1"/>
          </p:cNvPicPr>
          <p:nvPr/>
        </p:nvPicPr>
        <p:blipFill>
          <a:blip r:embed="rId2"/>
          <a:stretch>
            <a:fillRect/>
          </a:stretch>
        </p:blipFill>
        <p:spPr>
          <a:xfrm>
            <a:off x="6437669" y="1417320"/>
            <a:ext cx="3506855" cy="4572000"/>
          </a:xfrm>
          <a:prstGeom prst="rect">
            <a:avLst/>
          </a:prstGeom>
        </p:spPr>
      </p:pic>
      <p:sp>
        <p:nvSpPr>
          <p:cNvPr id="5" name="Text 1"/>
          <p:cNvSpPr txBox="1"/>
          <p:nvPr/>
        </p:nvSpPr>
        <p:spPr>
          <a:xfrm>
            <a:off x="640080" y="6126480"/>
            <a:ext cx="10515600" cy="365760"/>
          </a:xfrm>
          <a:prstGeom prst="rect">
            <a:avLst/>
          </a:prstGeom>
          <a:noFill/>
          <a:ln/>
        </p:spPr>
        <p:txBody>
          <a:bodyPr wrap="square" lIns="0" tIns="0" rIns="0" bIns="0" rtlCol="0" anchor="ctr"/>
          <a:lstStyle/>
          <a:p>
            <a:pPr indent="0" marL="0">
              <a:buNone/>
            </a:pPr>
            <a:r>
              <a:rPr lang="en-US" sz="1600" i="1" dirty="0">
                <a:solidFill>
                  <a:srgbClr val="3E4C59"/>
                </a:solidFill>
                <a:latin typeface="Calibri" pitchFamily="34" charset="0"/>
                <a:ea typeface="Calibri" pitchFamily="34" charset="-122"/>
                <a:cs typeface="Calibri" pitchFamily="34" charset="-120"/>
              </a:rPr>
              <a:t>Left: system architecture (File Storage is implemented as 5 storage-node containers with replicated chunks). Right: admin AI summary flow.</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200" b="1" dirty="0">
                <a:solidFill>
                  <a:srgbClr val="1F2933"/>
                </a:solidFill>
                <a:latin typeface="Cambria" pitchFamily="34" charset="0"/>
                <a:ea typeface="Cambria" pitchFamily="34" charset="-122"/>
                <a:cs typeface="Cambria" pitchFamily="34" charset="-120"/>
              </a:rPr>
              <a:t>Block diagram: how the system works</a:t>
            </a:r>
            <a:endParaRPr lang="en-US" sz="3200" dirty="0"/>
          </a:p>
        </p:txBody>
      </p:sp>
      <p:sp>
        <p:nvSpPr>
          <p:cNvPr id="3" name="Text 1"/>
          <p:cNvSpPr txBox="1"/>
          <p:nvPr/>
        </p:nvSpPr>
        <p:spPr>
          <a:xfrm>
            <a:off x="640080" y="1463040"/>
            <a:ext cx="10881360" cy="4663440"/>
          </a:xfrm>
          <a:prstGeom prst="rect">
            <a:avLst/>
          </a:prstGeom>
          <a:noFill/>
          <a:ln/>
        </p:spPr>
        <p:txBody>
          <a:bodyPr wrap="square" lIns="0" tIns="0" rIns="0" bIns="0" rtlCol="0" anchor="t"/>
          <a:lstStyle/>
          <a:p>
            <a:pPr marL="342900" indent="-342900">
              <a:spcAft>
                <a:spcPts val="1200"/>
              </a:spcAft>
              <a:buSzPct val="100000"/>
              <a:buChar char="•"/>
            </a:pPr>
            <a:r>
              <a:rPr lang="en-US" sz="2100" dirty="0">
                <a:solidFill>
                  <a:srgbClr val="1F2933"/>
                </a:solidFill>
                <a:latin typeface="Calibri" pitchFamily="34" charset="0"/>
                <a:ea typeface="Calibri" pitchFamily="34" charset="-122"/>
                <a:cs typeface="Calibri" pitchFamily="34" charset="-120"/>
              </a:rPr>
              <a:t>The user opens the React web app in the browser and signs in with Google.</a:t>
            </a:r>
            <a:endParaRPr lang="en-US" sz="2100" dirty="0"/>
          </a:p>
          <a:p>
            <a:pPr marL="342900" indent="-342900">
              <a:spcAft>
                <a:spcPts val="1200"/>
              </a:spcAft>
              <a:buSzPct val="100000"/>
              <a:buChar char="•"/>
            </a:pPr>
            <a:r>
              <a:rPr lang="en-US" sz="2100" dirty="0">
                <a:solidFill>
                  <a:srgbClr val="1F2933"/>
                </a:solidFill>
                <a:latin typeface="Calibri" pitchFamily="34" charset="0"/>
                <a:ea typeface="Calibri" pitchFamily="34" charset="-122"/>
                <a:cs typeface="Calibri" pitchFamily="34" charset="-120"/>
              </a:rPr>
              <a:t>The app calls the REST API (/api) of the Spring Boot application.</a:t>
            </a:r>
            <a:endParaRPr lang="en-US" sz="2100" dirty="0"/>
          </a:p>
          <a:p>
            <a:pPr marL="342900" indent="-342900">
              <a:spcAft>
                <a:spcPts val="1200"/>
              </a:spcAft>
              <a:buSzPct val="100000"/>
              <a:buChar char="•"/>
            </a:pPr>
            <a:r>
              <a:rPr lang="en-US" sz="2100" dirty="0">
                <a:solidFill>
                  <a:srgbClr val="1F2933"/>
                </a:solidFill>
                <a:latin typeface="Calibri" pitchFamily="34" charset="0"/>
                <a:ea typeface="Calibri" pitchFamily="34" charset="-122"/>
                <a:cs typeface="Calibri" pitchFamily="34" charset="-120"/>
              </a:rPr>
              <a:t>Security checks the session, the CSRF token, and the account's role and status.</a:t>
            </a:r>
            <a:endParaRPr lang="en-US" sz="2100" dirty="0"/>
          </a:p>
          <a:p>
            <a:pPr marL="342900" indent="-342900">
              <a:spcAft>
                <a:spcPts val="1200"/>
              </a:spcAft>
              <a:buSzPct val="100000"/>
              <a:buChar char="•"/>
            </a:pPr>
            <a:r>
              <a:rPr lang="en-US" sz="2100" dirty="0">
                <a:solidFill>
                  <a:srgbClr val="1F2933"/>
                </a:solidFill>
                <a:latin typeface="Calibri" pitchFamily="34" charset="0"/>
                <a:ea typeface="Calibri" pitchFamily="34" charset="-122"/>
                <a:cs typeface="Calibri" pitchFamily="34" charset="-120"/>
              </a:rPr>
              <a:t>Controllers pass the request to services: files, folders, accounts, tiering, and insights.</a:t>
            </a:r>
            <a:endParaRPr lang="en-US" sz="2100" dirty="0"/>
          </a:p>
          <a:p>
            <a:pPr marL="342900" indent="-342900">
              <a:spcAft>
                <a:spcPts val="1200"/>
              </a:spcAft>
              <a:buSzPct val="100000"/>
              <a:buChar char="•"/>
            </a:pPr>
            <a:r>
              <a:rPr lang="en-US" sz="2100" dirty="0">
                <a:solidFill>
                  <a:srgbClr val="1F2933"/>
                </a:solidFill>
                <a:latin typeface="Calibri" pitchFamily="34" charset="0"/>
                <a:ea typeface="Calibri" pitchFamily="34" charset="-122"/>
                <a:cs typeface="Calibri" pitchFamily="34" charset="-120"/>
              </a:rPr>
              <a:t>Metadata is read and written in PostgreSQL; file bytes are cut into chunks and each chunk is written to 3 of the 5 storage nodes (Docker containers), hot or cold.</a:t>
            </a:r>
            <a:endParaRPr lang="en-US" sz="2100" dirty="0"/>
          </a:p>
          <a:p>
            <a:pPr marL="342900" indent="-342900">
              <a:spcAft>
                <a:spcPts val="1200"/>
              </a:spcAft>
              <a:buSzPct val="100000"/>
              <a:buChar char="•"/>
            </a:pPr>
            <a:r>
              <a:rPr lang="en-US" sz="2100" dirty="0">
                <a:solidFill>
                  <a:srgbClr val="1F2933"/>
                </a:solidFill>
                <a:latin typeface="Calibri" pitchFamily="34" charset="0"/>
                <a:ea typeface="Calibri" pitchFamily="34" charset="-122"/>
                <a:cs typeface="Calibri" pitchFamily="34" charset="-120"/>
              </a:rPr>
              <a:t>The storage optimizer moves files between hot and cold; the insights service calls the Gemini API.</a:t>
            </a:r>
            <a:endParaRPr lang="en-US" sz="2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200" b="1" dirty="0">
                <a:solidFill>
                  <a:srgbClr val="1F2933"/>
                </a:solidFill>
                <a:latin typeface="Cambria" pitchFamily="34" charset="0"/>
                <a:ea typeface="Cambria" pitchFamily="34" charset="-122"/>
                <a:cs typeface="Cambria" pitchFamily="34" charset="-120"/>
              </a:rPr>
              <a:t>Block diagram: admin AI summary flow</a:t>
            </a:r>
            <a:endParaRPr lang="en-US" sz="3200" dirty="0"/>
          </a:p>
        </p:txBody>
      </p:sp>
      <p:sp>
        <p:nvSpPr>
          <p:cNvPr id="3" name="Text 1"/>
          <p:cNvSpPr txBox="1"/>
          <p:nvPr/>
        </p:nvSpPr>
        <p:spPr>
          <a:xfrm>
            <a:off x="640080" y="1463040"/>
            <a:ext cx="10881360" cy="4663440"/>
          </a:xfrm>
          <a:prstGeom prst="rect">
            <a:avLst/>
          </a:prstGeom>
          <a:noFill/>
          <a:ln/>
        </p:spPr>
        <p:txBody>
          <a:bodyPr wrap="square" lIns="0" tIns="0" rIns="0" bIns="0" rtlCol="0" anchor="t"/>
          <a:lstStyle/>
          <a:p>
            <a:pPr marL="342900" indent="-342900">
              <a:spcAft>
                <a:spcPts val="1200"/>
              </a:spcAft>
              <a:buSzPct val="100000"/>
              <a:buChar char="•"/>
            </a:pPr>
            <a:r>
              <a:rPr lang="en-US" sz="2100" dirty="0">
                <a:solidFill>
                  <a:srgbClr val="1F2933"/>
                </a:solidFill>
                <a:latin typeface="Calibri" pitchFamily="34" charset="0"/>
                <a:ea typeface="Calibri" pitchFamily="34" charset="-122"/>
                <a:cs typeface="Calibri" pitchFamily="34" charset="-120"/>
              </a:rPr>
              <a:t>The admin clicks "Summarise" in the admin panel.</a:t>
            </a:r>
            <a:endParaRPr lang="en-US" sz="2100" dirty="0"/>
          </a:p>
          <a:p>
            <a:pPr marL="342900" indent="-342900">
              <a:spcAft>
                <a:spcPts val="1200"/>
              </a:spcAft>
              <a:buSzPct val="100000"/>
              <a:buChar char="•"/>
            </a:pPr>
            <a:r>
              <a:rPr lang="en-US" sz="2100" dirty="0">
                <a:solidFill>
                  <a:srgbClr val="1F2933"/>
                </a:solidFill>
                <a:latin typeface="Calibri" pitchFamily="34" charset="0"/>
                <a:ea typeface="Calibri" pitchFamily="34" charset="-122"/>
                <a:cs typeface="Calibri" pitchFamily="34" charset="-120"/>
              </a:rPr>
              <a:t>The server confirms the caller is an administrator.</a:t>
            </a:r>
            <a:endParaRPr lang="en-US" sz="2100" dirty="0"/>
          </a:p>
          <a:p>
            <a:pPr marL="342900" indent="-342900">
              <a:spcAft>
                <a:spcPts val="1200"/>
              </a:spcAft>
              <a:buSzPct val="100000"/>
              <a:buChar char="•"/>
            </a:pPr>
            <a:r>
              <a:rPr lang="en-US" sz="2100" dirty="0">
                <a:solidFill>
                  <a:srgbClr val="1F2933"/>
                </a:solidFill>
                <a:latin typeface="Calibri" pitchFamily="34" charset="0"/>
                <a:ea typeface="Calibri" pitchFamily="34" charset="-122"/>
                <a:cs typeface="Calibri" pitchFamily="34" charset="-120"/>
              </a:rPr>
              <a:t>The insights service reads storage statistics from PostgreSQL.</a:t>
            </a:r>
            <a:endParaRPr lang="en-US" sz="2100" dirty="0"/>
          </a:p>
          <a:p>
            <a:pPr marL="342900" indent="-342900">
              <a:spcAft>
                <a:spcPts val="1200"/>
              </a:spcAft>
              <a:buSzPct val="100000"/>
              <a:buChar char="•"/>
            </a:pPr>
            <a:r>
              <a:rPr lang="en-US" sz="2100" dirty="0">
                <a:solidFill>
                  <a:srgbClr val="1F2933"/>
                </a:solidFill>
                <a:latin typeface="Calibri" pitchFamily="34" charset="0"/>
                <a:ea typeface="Calibri" pitchFamily="34" charset="-122"/>
                <a:cs typeface="Calibri" pitchFamily="34" charset="-120"/>
              </a:rPr>
              <a:t>It builds a numbers-only snapshot, with no names, contents or user details.</a:t>
            </a:r>
            <a:endParaRPr lang="en-US" sz="2100" dirty="0"/>
          </a:p>
          <a:p>
            <a:pPr marL="342900" indent="-342900">
              <a:spcAft>
                <a:spcPts val="1200"/>
              </a:spcAft>
              <a:buSzPct val="100000"/>
              <a:buChar char="•"/>
            </a:pPr>
            <a:r>
              <a:rPr lang="en-US" sz="2100" dirty="0">
                <a:solidFill>
                  <a:srgbClr val="1F2933"/>
                </a:solidFill>
                <a:latin typeface="Calibri" pitchFamily="34" charset="0"/>
                <a:ea typeface="Calibri" pitchFamily="34" charset="-122"/>
                <a:cs typeface="Calibri" pitchFamily="34" charset="-120"/>
              </a:rPr>
              <a:t>The snapshot is sent to the Gemini 3.8 Flash REST API with a request for a JSON answer.</a:t>
            </a:r>
            <a:endParaRPr lang="en-US" sz="2100" dirty="0"/>
          </a:p>
          <a:p>
            <a:pPr marL="342900" indent="-342900">
              <a:spcAft>
                <a:spcPts val="1200"/>
              </a:spcAft>
              <a:buSzPct val="100000"/>
              <a:buChar char="•"/>
            </a:pPr>
            <a:r>
              <a:rPr lang="en-US" sz="2100" dirty="0">
                <a:solidFill>
                  <a:srgbClr val="1F2933"/>
                </a:solidFill>
                <a:latin typeface="Calibri" pitchFamily="34" charset="0"/>
                <a:ea typeface="Calibri" pitchFamily="34" charset="-122"/>
                <a:cs typeface="Calibri" pitchFamily="34" charset="-120"/>
              </a:rPr>
              <a:t>The summary and suggestions are returned to the panel; a built-in summary is used if the AI is unavailable.</a:t>
            </a:r>
            <a:endParaRPr lang="en-US" sz="2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200" b="1" dirty="0">
                <a:solidFill>
                  <a:srgbClr val="1F2933"/>
                </a:solidFill>
                <a:latin typeface="Cambria" pitchFamily="34" charset="0"/>
                <a:ea typeface="Cambria" pitchFamily="34" charset="-122"/>
                <a:cs typeface="Cambria" pitchFamily="34" charset="-120"/>
              </a:rPr>
              <a:t>Output sample 1: the drive</a:t>
            </a:r>
            <a:endParaRPr lang="en-US" sz="3200" dirty="0"/>
          </a:p>
        </p:txBody>
      </p:sp>
      <p:pic>
        <p:nvPicPr>
          <p:cNvPr id="3" name="Screenshot" descr="Folders and files inside &quot;Reports&quot;, with breadcrumb, New folder and Upload. Users see no hot or cold storage.">    </p:cNvPr>
          <p:cNvPicPr>
            <a:picLocks noChangeAspect="1"/>
          </p:cNvPicPr>
          <p:nvPr/>
        </p:nvPicPr>
        <p:blipFill>
          <a:blip r:embed="rId1"/>
          <a:stretch>
            <a:fillRect/>
          </a:stretch>
        </p:blipFill>
        <p:spPr>
          <a:xfrm>
            <a:off x="640080" y="1417320"/>
            <a:ext cx="10881360" cy="3249295"/>
          </a:xfrm>
          <a:prstGeom prst="rect">
            <a:avLst/>
          </a:prstGeom>
        </p:spPr>
      </p:pic>
      <p:sp>
        <p:nvSpPr>
          <p:cNvPr id="4" name="Text 1"/>
          <p:cNvSpPr txBox="1"/>
          <p:nvPr/>
        </p:nvSpPr>
        <p:spPr>
          <a:xfrm>
            <a:off x="640080" y="6035040"/>
            <a:ext cx="10515600" cy="457200"/>
          </a:xfrm>
          <a:prstGeom prst="rect">
            <a:avLst/>
          </a:prstGeom>
          <a:noFill/>
          <a:ln/>
        </p:spPr>
        <p:txBody>
          <a:bodyPr wrap="square" lIns="0" tIns="0" rIns="0" bIns="0" rtlCol="0" anchor="t"/>
          <a:lstStyle/>
          <a:p>
            <a:pPr indent="0" marL="0">
              <a:buNone/>
            </a:pPr>
            <a:r>
              <a:rPr lang="en-US" sz="1600" i="1" dirty="0">
                <a:solidFill>
                  <a:srgbClr val="3E4C59"/>
                </a:solidFill>
                <a:latin typeface="Calibri" pitchFamily="34" charset="0"/>
                <a:ea typeface="Calibri" pitchFamily="34" charset="-122"/>
                <a:cs typeface="Calibri" pitchFamily="34" charset="-120"/>
              </a:rPr>
              <a:t>Folders and files inside "Reports", with breadcrumb, New folder and Upload. Users see no hot or cold storage.</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200" b="1" dirty="0">
                <a:solidFill>
                  <a:srgbClr val="1F2933"/>
                </a:solidFill>
                <a:latin typeface="Cambria" pitchFamily="34" charset="0"/>
                <a:ea typeface="Cambria" pitchFamily="34" charset="-122"/>
                <a:cs typeface="Cambria" pitchFamily="34" charset="-120"/>
              </a:rPr>
              <a:t>Output sample 2: in-app file viewer</a:t>
            </a:r>
            <a:endParaRPr lang="en-US" sz="3200" dirty="0"/>
          </a:p>
        </p:txBody>
      </p:sp>
      <p:pic>
        <p:nvPicPr>
          <p:cNvPr id="3" name="Screenshot" descr="A CSV file opened inside the app and shown as a table.">    </p:cNvPr>
          <p:cNvPicPr>
            <a:picLocks noChangeAspect="1"/>
          </p:cNvPicPr>
          <p:nvPr/>
        </p:nvPicPr>
        <p:blipFill>
          <a:blip r:embed="rId1"/>
          <a:stretch>
            <a:fillRect/>
          </a:stretch>
        </p:blipFill>
        <p:spPr>
          <a:xfrm>
            <a:off x="640080" y="1417320"/>
            <a:ext cx="10406462" cy="4480560"/>
          </a:xfrm>
          <a:prstGeom prst="rect">
            <a:avLst/>
          </a:prstGeom>
        </p:spPr>
      </p:pic>
      <p:sp>
        <p:nvSpPr>
          <p:cNvPr id="4" name="Text 1"/>
          <p:cNvSpPr txBox="1"/>
          <p:nvPr/>
        </p:nvSpPr>
        <p:spPr>
          <a:xfrm>
            <a:off x="640080" y="6035040"/>
            <a:ext cx="10515600" cy="457200"/>
          </a:xfrm>
          <a:prstGeom prst="rect">
            <a:avLst/>
          </a:prstGeom>
          <a:noFill/>
          <a:ln/>
        </p:spPr>
        <p:txBody>
          <a:bodyPr wrap="square" lIns="0" tIns="0" rIns="0" bIns="0" rtlCol="0" anchor="t"/>
          <a:lstStyle/>
          <a:p>
            <a:pPr indent="0" marL="0">
              <a:buNone/>
            </a:pPr>
            <a:r>
              <a:rPr lang="en-US" sz="1600" i="1" dirty="0">
                <a:solidFill>
                  <a:srgbClr val="3E4C59"/>
                </a:solidFill>
                <a:latin typeface="Calibri" pitchFamily="34" charset="0"/>
                <a:ea typeface="Calibri" pitchFamily="34" charset="-122"/>
                <a:cs typeface="Calibri" pitchFamily="34" charset="-120"/>
              </a:rPr>
              <a:t>A CSV file opened inside the app and shown as a table.</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200" b="1" dirty="0">
                <a:solidFill>
                  <a:srgbClr val="1F2933"/>
                </a:solidFill>
                <a:latin typeface="Cambria" pitchFamily="34" charset="0"/>
                <a:ea typeface="Cambria" pitchFamily="34" charset="-122"/>
                <a:cs typeface="Cambria" pitchFamily="34" charset="-120"/>
              </a:rPr>
              <a:t>Output sample 3: admin approval of accounts</a:t>
            </a:r>
            <a:endParaRPr lang="en-US" sz="3200" dirty="0"/>
          </a:p>
        </p:txBody>
      </p:sp>
      <p:pic>
        <p:nvPicPr>
          <p:cNvPr id="3" name="Screenshot" descr="New Google sign-ins wait here until the administrator approves or rejects them.">    </p:cNvPr>
          <p:cNvPicPr>
            <a:picLocks noChangeAspect="1"/>
          </p:cNvPicPr>
          <p:nvPr/>
        </p:nvPicPr>
        <p:blipFill>
          <a:blip r:embed="rId1"/>
          <a:stretch>
            <a:fillRect/>
          </a:stretch>
        </p:blipFill>
        <p:spPr>
          <a:xfrm>
            <a:off x="640080" y="1417320"/>
            <a:ext cx="10881360" cy="4332393"/>
          </a:xfrm>
          <a:prstGeom prst="rect">
            <a:avLst/>
          </a:prstGeom>
        </p:spPr>
      </p:pic>
      <p:sp>
        <p:nvSpPr>
          <p:cNvPr id="4" name="Text 1"/>
          <p:cNvSpPr txBox="1"/>
          <p:nvPr/>
        </p:nvSpPr>
        <p:spPr>
          <a:xfrm>
            <a:off x="640080" y="6035040"/>
            <a:ext cx="10515600" cy="457200"/>
          </a:xfrm>
          <a:prstGeom prst="rect">
            <a:avLst/>
          </a:prstGeom>
          <a:noFill/>
          <a:ln/>
        </p:spPr>
        <p:txBody>
          <a:bodyPr wrap="square" lIns="0" tIns="0" rIns="0" bIns="0" rtlCol="0" anchor="t"/>
          <a:lstStyle/>
          <a:p>
            <a:pPr indent="0" marL="0">
              <a:buNone/>
            </a:pPr>
            <a:r>
              <a:rPr lang="en-US" sz="1600" i="1" dirty="0">
                <a:solidFill>
                  <a:srgbClr val="3E4C59"/>
                </a:solidFill>
                <a:latin typeface="Calibri" pitchFamily="34" charset="0"/>
                <a:ea typeface="Calibri" pitchFamily="34" charset="-122"/>
                <a:cs typeface="Calibri" pitchFamily="34" charset="-120"/>
              </a:rPr>
              <a:t>New Google sign-ins wait here until the administrator approves or rejects them.</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200" b="1" dirty="0">
                <a:solidFill>
                  <a:srgbClr val="1F2933"/>
                </a:solidFill>
                <a:latin typeface="Cambria" pitchFamily="34" charset="0"/>
                <a:ea typeface="Cambria" pitchFamily="34" charset="-122"/>
                <a:cs typeface="Cambria" pitchFamily="34" charset="-120"/>
              </a:rPr>
              <a:t>Output sample 4: storage operations and summary</a:t>
            </a:r>
            <a:endParaRPr lang="en-US" sz="3200" dirty="0"/>
          </a:p>
        </p:txBody>
      </p:sp>
      <p:pic>
        <p:nvPicPr>
          <p:cNvPr id="3" name="Screenshot" descr="Optimizer results and the storage summary. This run used the built-in summary (no API key was set), as the screen states.">    </p:cNvPr>
          <p:cNvPicPr>
            <a:picLocks noChangeAspect="1"/>
          </p:cNvPicPr>
          <p:nvPr/>
        </p:nvPicPr>
        <p:blipFill>
          <a:blip r:embed="rId1"/>
          <a:stretch>
            <a:fillRect/>
          </a:stretch>
        </p:blipFill>
        <p:spPr>
          <a:xfrm>
            <a:off x="640080" y="1280160"/>
            <a:ext cx="6202308" cy="4709160"/>
          </a:xfrm>
          <a:prstGeom prst="rect">
            <a:avLst/>
          </a:prstGeom>
        </p:spPr>
      </p:pic>
      <p:sp>
        <p:nvSpPr>
          <p:cNvPr id="4" name="Text 1"/>
          <p:cNvSpPr txBox="1"/>
          <p:nvPr/>
        </p:nvSpPr>
        <p:spPr>
          <a:xfrm>
            <a:off x="640080" y="6035040"/>
            <a:ext cx="10515600" cy="457200"/>
          </a:xfrm>
          <a:prstGeom prst="rect">
            <a:avLst/>
          </a:prstGeom>
          <a:noFill/>
          <a:ln/>
        </p:spPr>
        <p:txBody>
          <a:bodyPr wrap="square" lIns="0" tIns="0" rIns="0" bIns="0" rtlCol="0" anchor="t"/>
          <a:lstStyle/>
          <a:p>
            <a:pPr indent="0" marL="0">
              <a:buNone/>
            </a:pPr>
            <a:r>
              <a:rPr lang="en-US" sz="1600" i="1" dirty="0">
                <a:solidFill>
                  <a:srgbClr val="3E4C59"/>
                </a:solidFill>
                <a:latin typeface="Calibri" pitchFamily="34" charset="0"/>
                <a:ea typeface="Calibri" pitchFamily="34" charset="-122"/>
                <a:cs typeface="Calibri" pitchFamily="34" charset="-120"/>
              </a:rPr>
              <a:t>Optimizer results and the storage summary. This run used the built-in summary (no API key was set), as the screen states.</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200" b="1" dirty="0">
                <a:solidFill>
                  <a:srgbClr val="1F2933"/>
                </a:solidFill>
                <a:latin typeface="Cambria" pitchFamily="34" charset="0"/>
                <a:ea typeface="Cambria" pitchFamily="34" charset="-122"/>
                <a:cs typeface="Cambria" pitchFamily="34" charset="-120"/>
              </a:rPr>
              <a:t>Output sample 5: how one file is stored</a:t>
            </a:r>
            <a:endParaRPr lang="en-US" sz="3200" dirty="0"/>
          </a:p>
        </p:txBody>
      </p:sp>
      <p:sp>
        <p:nvSpPr>
          <p:cNvPr id="3" name="Text 1"/>
          <p:cNvSpPr txBox="1"/>
          <p:nvPr/>
        </p:nvSpPr>
        <p:spPr>
          <a:xfrm>
            <a:off x="640080" y="1280160"/>
            <a:ext cx="10881360" cy="11887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F2933"/>
                </a:solidFill>
                <a:latin typeface="Calibri" pitchFamily="34" charset="0"/>
                <a:ea typeface="Calibri" pitchFamily="34" charset="-122"/>
                <a:cs typeface="Calibri" pitchFamily="34" charset="-120"/>
              </a:rPr>
              <a:t>A storage node is a Docker container that holds data. dataset.bin (1.1 MB) was cut into 5 chunks, and each chunk is stored on 3 of the 5 nodes.</a:t>
            </a:r>
            <a:endParaRPr lang="en-US" sz="1700" dirty="0"/>
          </a:p>
          <a:p>
            <a:pPr marL="342900" indent="-342900">
              <a:spcAft>
                <a:spcPts val="600"/>
              </a:spcAft>
              <a:buSzPct val="100000"/>
              <a:buChar char="•"/>
            </a:pPr>
            <a:r>
              <a:rPr lang="en-US" sz="1700" dirty="0">
                <a:solidFill>
                  <a:srgbClr val="1F2933"/>
                </a:solidFill>
                <a:latin typeface="Calibri" pitchFamily="34" charset="0"/>
                <a:ea typeface="Calibri" pitchFamily="34" charset="-122"/>
                <a:cs typeface="Calibri" pitchFamily="34" charset="-120"/>
              </a:rPr>
              <a:t>A filled circle means that node holds a copy of that chunk. If node-1 and node-2 are down at the same moment, every chunk still has a copy on a working node, so the file can be read.</a:t>
            </a:r>
            <a:endParaRPr lang="en-US" sz="17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881360" cy="914400"/>
        </p:xfrm>
        <a:graphic>
          <a:graphicData uri="http://schemas.openxmlformats.org/drawingml/2006/table">
            <a:tbl>
              <a:tblPr/>
              <a:tblGrid>
                <a:gridCol w="1188720"/>
                <a:gridCol w="1325880"/>
                <a:gridCol w="1325880"/>
                <a:gridCol w="1325880"/>
                <a:gridCol w="1325880"/>
                <a:gridCol w="1325880"/>
                <a:gridCol w="3063240"/>
              </a:tblGrid>
              <a:tr h="0">
                <a:tc>
                  <a:txBody>
                    <a:bodyPr/>
                    <a:lstStyle/>
                    <a:p>
                      <a:pPr indent="0" marL="0">
                        <a:buNone/>
                      </a:pPr>
                      <a:r>
                        <a:rPr lang="en-US" sz="1400" b="1" dirty="0">
                          <a:solidFill>
                            <a:srgbClr val="000000"/>
                          </a:solidFill>
                          <a:latin typeface="Calibri" pitchFamily="34" charset="0"/>
                          <a:ea typeface="Calibri" pitchFamily="34" charset="-122"/>
                          <a:cs typeface="Calibri" pitchFamily="34" charset="-120"/>
                        </a:rPr>
                        <a:t>Chunk</a:t>
                      </a:r>
                      <a:endParaRPr lang="en-US" sz="14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EEF1F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node-1 (offline)</a:t>
                      </a:r>
                      <a:endParaRPr lang="en-US" sz="14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B3261E"/>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node-2 (offline)</a:t>
                      </a:r>
                      <a:endParaRPr lang="en-US" sz="14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B3261E"/>
                    </a:solidFill>
                  </a:tcPr>
                </a:tc>
                <a:tc>
                  <a:txBody>
                    <a:bodyPr/>
                    <a:lstStyle/>
                    <a:p>
                      <a:pPr algn="ctr" indent="0" marL="0">
                        <a:buNone/>
                      </a:pPr>
                      <a:r>
                        <a:rPr lang="en-US" sz="1400" b="1" dirty="0">
                          <a:solidFill>
                            <a:srgbClr val="1F2933"/>
                          </a:solidFill>
                          <a:latin typeface="Calibri" pitchFamily="34" charset="0"/>
                          <a:ea typeface="Calibri" pitchFamily="34" charset="-122"/>
                          <a:cs typeface="Calibri" pitchFamily="34" charset="-120"/>
                        </a:rPr>
                        <a:t>node-3</a:t>
                      </a:r>
                      <a:endParaRPr lang="en-US" sz="14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EEF1F5"/>
                    </a:solidFill>
                  </a:tcPr>
                </a:tc>
                <a:tc>
                  <a:txBody>
                    <a:bodyPr/>
                    <a:lstStyle/>
                    <a:p>
                      <a:pPr algn="ctr" indent="0" marL="0">
                        <a:buNone/>
                      </a:pPr>
                      <a:r>
                        <a:rPr lang="en-US" sz="1400" b="1" dirty="0">
                          <a:solidFill>
                            <a:srgbClr val="1F2933"/>
                          </a:solidFill>
                          <a:latin typeface="Calibri" pitchFamily="34" charset="0"/>
                          <a:ea typeface="Calibri" pitchFamily="34" charset="-122"/>
                          <a:cs typeface="Calibri" pitchFamily="34" charset="-120"/>
                        </a:rPr>
                        <a:t>node-4</a:t>
                      </a:r>
                      <a:endParaRPr lang="en-US" sz="14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EEF1F5"/>
                    </a:solidFill>
                  </a:tcPr>
                </a:tc>
                <a:tc>
                  <a:txBody>
                    <a:bodyPr/>
                    <a:lstStyle/>
                    <a:p>
                      <a:pPr algn="ctr" indent="0" marL="0">
                        <a:buNone/>
                      </a:pPr>
                      <a:r>
                        <a:rPr lang="en-US" sz="1400" b="1" dirty="0">
                          <a:solidFill>
                            <a:srgbClr val="1F2933"/>
                          </a:solidFill>
                          <a:latin typeface="Calibri" pitchFamily="34" charset="0"/>
                          <a:ea typeface="Calibri" pitchFamily="34" charset="-122"/>
                          <a:cs typeface="Calibri" pitchFamily="34" charset="-120"/>
                        </a:rPr>
                        <a:t>node-5</a:t>
                      </a:r>
                      <a:endParaRPr lang="en-US" sz="14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EEF1F5"/>
                    </a:solidFill>
                  </a:tcPr>
                </a:tc>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Served by while node-1 + node-2 are offline</a:t>
                      </a:r>
                      <a:endParaRPr lang="en-US" sz="13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EEF1F5"/>
                    </a:solidFill>
                  </a:tcPr>
                </a:tc>
              </a:tr>
              <a:tr h="0">
                <a:tc>
                  <a:txBody>
                    <a:bodyPr/>
                    <a:lstStyle/>
                    <a:p>
                      <a:pPr algn="l" indent="0" marL="0">
                        <a:buNone/>
                      </a:pPr>
                      <a:r>
                        <a:rPr lang="en-US" sz="1400" b="1" dirty="0">
                          <a:solidFill>
                            <a:srgbClr val="1F2933"/>
                          </a:solidFill>
                          <a:latin typeface="Calibri" pitchFamily="34" charset="0"/>
                          <a:ea typeface="Calibri" pitchFamily="34" charset="-122"/>
                          <a:cs typeface="Calibri" pitchFamily="34" charset="-120"/>
                        </a:rPr>
                        <a:t>chunk 0</a:t>
                      </a:r>
                      <a:endParaRPr lang="en-US" sz="14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algn="ctr" indent="0" marL="0">
                        <a:buNone/>
                      </a:pPr>
                      <a:endParaRPr lang="en-US" sz="16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B3261E"/>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1A56C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A56C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3"/>
                          </a:solidFill>
                          <a:latin typeface="Calibri" pitchFamily="34" charset="0"/>
                          <a:ea typeface="Calibri" pitchFamily="34" charset="-122"/>
                          <a:cs typeface="Calibri" pitchFamily="34" charset="-120"/>
                        </a:rPr>
                        <a:t>node-3, node-5</a:t>
                      </a:r>
                      <a:endParaRPr lang="en-US" sz="13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0">
                <a:tc>
                  <a:txBody>
                    <a:bodyPr/>
                    <a:lstStyle/>
                    <a:p>
                      <a:pPr algn="l" indent="0" marL="0">
                        <a:buNone/>
                      </a:pPr>
                      <a:r>
                        <a:rPr lang="en-US" sz="1400" b="1" dirty="0">
                          <a:solidFill>
                            <a:srgbClr val="1F2933"/>
                          </a:solidFill>
                          <a:latin typeface="Calibri" pitchFamily="34" charset="0"/>
                          <a:ea typeface="Calibri" pitchFamily="34" charset="-122"/>
                          <a:cs typeface="Calibri" pitchFamily="34" charset="-120"/>
                        </a:rPr>
                        <a:t>chunk 1</a:t>
                      </a:r>
                      <a:endParaRPr lang="en-US" sz="14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algn="ctr" indent="0" marL="0">
                        <a:buNone/>
                      </a:pPr>
                      <a:endParaRPr lang="en-US" sz="16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FDECEA"/>
                    </a:solidFill>
                  </a:tcPr>
                </a:tc>
                <a:tc>
                  <a:txBody>
                    <a:bodyPr/>
                    <a:lstStyle/>
                    <a:p>
                      <a:pPr algn="ctr" indent="0" marL="0">
                        <a:buNone/>
                      </a:pPr>
                      <a:endParaRPr lang="en-US" sz="16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1A56C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A56C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A56C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3"/>
                          </a:solidFill>
                          <a:latin typeface="Calibri" pitchFamily="34" charset="0"/>
                          <a:ea typeface="Calibri" pitchFamily="34" charset="-122"/>
                          <a:cs typeface="Calibri" pitchFamily="34" charset="-120"/>
                        </a:rPr>
                        <a:t>node-4, node-3, node-5</a:t>
                      </a:r>
                      <a:endParaRPr lang="en-US" sz="13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0">
                <a:tc>
                  <a:txBody>
                    <a:bodyPr/>
                    <a:lstStyle/>
                    <a:p>
                      <a:pPr algn="l" indent="0" marL="0">
                        <a:buNone/>
                      </a:pPr>
                      <a:r>
                        <a:rPr lang="en-US" sz="1400" b="1" dirty="0">
                          <a:solidFill>
                            <a:srgbClr val="1F2933"/>
                          </a:solidFill>
                          <a:latin typeface="Calibri" pitchFamily="34" charset="0"/>
                          <a:ea typeface="Calibri" pitchFamily="34" charset="-122"/>
                          <a:cs typeface="Calibri" pitchFamily="34" charset="-120"/>
                        </a:rPr>
                        <a:t>chunk 2</a:t>
                      </a:r>
                      <a:endParaRPr lang="en-US" sz="14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algn="ctr" indent="0" marL="0">
                        <a:buNone/>
                      </a:pPr>
                      <a:r>
                        <a:rPr lang="en-US" sz="1600" dirty="0">
                          <a:solidFill>
                            <a:srgbClr val="B3261E"/>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B3261E"/>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1A56C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3"/>
                          </a:solidFill>
                          <a:latin typeface="Calibri" pitchFamily="34" charset="0"/>
                          <a:ea typeface="Calibri" pitchFamily="34" charset="-122"/>
                          <a:cs typeface="Calibri" pitchFamily="34" charset="-120"/>
                        </a:rPr>
                        <a:t>node-3</a:t>
                      </a:r>
                      <a:endParaRPr lang="en-US" sz="13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0">
                <a:tc>
                  <a:txBody>
                    <a:bodyPr/>
                    <a:lstStyle/>
                    <a:p>
                      <a:pPr algn="l" indent="0" marL="0">
                        <a:buNone/>
                      </a:pPr>
                      <a:r>
                        <a:rPr lang="en-US" sz="1400" b="1" dirty="0">
                          <a:solidFill>
                            <a:srgbClr val="1F2933"/>
                          </a:solidFill>
                          <a:latin typeface="Calibri" pitchFamily="34" charset="0"/>
                          <a:ea typeface="Calibri" pitchFamily="34" charset="-122"/>
                          <a:cs typeface="Calibri" pitchFamily="34" charset="-120"/>
                        </a:rPr>
                        <a:t>chunk 3</a:t>
                      </a:r>
                      <a:endParaRPr lang="en-US" sz="14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algn="ctr" indent="0" marL="0">
                        <a:buNone/>
                      </a:pPr>
                      <a:endParaRPr lang="en-US" sz="16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B3261E"/>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FDECEA"/>
                    </a:solidFill>
                  </a:tcPr>
                </a:tc>
                <a:tc>
                  <a:txBody>
                    <a:bodyPr/>
                    <a:lstStyle/>
                    <a:p>
                      <a:pPr algn="ctr" indent="0" marL="0">
                        <a:buNone/>
                      </a:pPr>
                      <a:endParaRPr lang="en-US" sz="16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A56C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A56C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3"/>
                          </a:solidFill>
                          <a:latin typeface="Calibri" pitchFamily="34" charset="0"/>
                          <a:ea typeface="Calibri" pitchFamily="34" charset="-122"/>
                          <a:cs typeface="Calibri" pitchFamily="34" charset="-120"/>
                        </a:rPr>
                        <a:t>node-5, node-4</a:t>
                      </a:r>
                      <a:endParaRPr lang="en-US" sz="13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0">
                <a:tc>
                  <a:txBody>
                    <a:bodyPr/>
                    <a:lstStyle/>
                    <a:p>
                      <a:pPr algn="l" indent="0" marL="0">
                        <a:buNone/>
                      </a:pPr>
                      <a:r>
                        <a:rPr lang="en-US" sz="1400" b="1" dirty="0">
                          <a:solidFill>
                            <a:srgbClr val="1F2933"/>
                          </a:solidFill>
                          <a:latin typeface="Calibri" pitchFamily="34" charset="0"/>
                          <a:ea typeface="Calibri" pitchFamily="34" charset="-122"/>
                          <a:cs typeface="Calibri" pitchFamily="34" charset="-120"/>
                        </a:rPr>
                        <a:t>chunk 4</a:t>
                      </a:r>
                      <a:endParaRPr lang="en-US" sz="14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algn="ctr" indent="0" marL="0">
                        <a:buNone/>
                      </a:pPr>
                      <a:r>
                        <a:rPr lang="en-US" sz="1600" dirty="0">
                          <a:solidFill>
                            <a:srgbClr val="B3261E"/>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FDECEA"/>
                    </a:solidFill>
                  </a:tcPr>
                </a:tc>
                <a:tc>
                  <a:txBody>
                    <a:bodyPr/>
                    <a:lstStyle/>
                    <a:p>
                      <a:pPr algn="ctr" indent="0" marL="0">
                        <a:buNone/>
                      </a:pPr>
                      <a:endParaRPr lang="en-US" sz="16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FDECEA"/>
                    </a:solidFill>
                  </a:tcPr>
                </a:tc>
                <a:tc>
                  <a:txBody>
                    <a:bodyPr/>
                    <a:lstStyle/>
                    <a:p>
                      <a:pPr algn="ctr" indent="0" marL="0">
                        <a:buNone/>
                      </a:pPr>
                      <a:endParaRPr lang="en-US" sz="16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A56C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A56C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3"/>
                          </a:solidFill>
                          <a:latin typeface="Calibri" pitchFamily="34" charset="0"/>
                          <a:ea typeface="Calibri" pitchFamily="34" charset="-122"/>
                          <a:cs typeface="Calibri" pitchFamily="34" charset="-120"/>
                        </a:rPr>
                        <a:t>node-4, node-5</a:t>
                      </a:r>
                      <a:endParaRPr lang="en-US" sz="1300" dirty="0">
                        <a:latin typeface="Calibri" charset="0"/>
                        <a:ea typeface="Calibri" charset="0"/>
                        <a:cs typeface="Calibri" charset="0"/>
                      </a:endParaRPr>
                    </a:p>
                  </a:txBody>
                  <a:tcPr marL="73152" marR="73152" marT="54864" marB="54864"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bl>
          </a:graphicData>
        </a:graphic>
      </p:graphicFrame>
      <p:sp>
        <p:nvSpPr>
          <p:cNvPr id="5" name="Text 2"/>
          <p:cNvSpPr txBox="1"/>
          <p:nvPr/>
        </p:nvSpPr>
        <p:spPr>
          <a:xfrm>
            <a:off x="640080" y="6035040"/>
            <a:ext cx="10881360" cy="365760"/>
          </a:xfrm>
          <a:prstGeom prst="rect">
            <a:avLst/>
          </a:prstGeom>
          <a:noFill/>
          <a:ln/>
        </p:spPr>
        <p:txBody>
          <a:bodyPr wrap="square" lIns="0" tIns="0" rIns="0" bIns="0" rtlCol="0" anchor="t"/>
          <a:lstStyle/>
          <a:p>
            <a:pPr indent="0" marL="0">
              <a:buNone/>
            </a:pPr>
            <a:r>
              <a:rPr lang="en-US" sz="1600" i="1" dirty="0">
                <a:solidFill>
                  <a:srgbClr val="3E4C59"/>
                </a:solidFill>
                <a:latin typeface="Calibri" pitchFamily="34" charset="0"/>
                <a:ea typeface="Calibri" pitchFamily="34" charset="-122"/>
                <a:cs typeface="Calibri" pitchFamily="34" charset="-120"/>
              </a:rPr>
              <a:t>Real placement from the running system: no node holds the whole file.</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200" b="1" dirty="0">
                <a:solidFill>
                  <a:srgbClr val="1F2933"/>
                </a:solidFill>
                <a:latin typeface="Cambria" pitchFamily="34" charset="0"/>
                <a:ea typeface="Cambria" pitchFamily="34" charset="-122"/>
                <a:cs typeface="Cambria" pitchFamily="34" charset="-120"/>
              </a:rPr>
              <a:t>Output sample 6: storage nodes in the admin panel</a:t>
            </a:r>
            <a:endParaRPr lang="en-US" sz="3200" dirty="0"/>
          </a:p>
        </p:txBody>
      </p:sp>
      <p:sp>
        <p:nvSpPr>
          <p:cNvPr id="3" name="Text 1"/>
          <p:cNvSpPr txBox="1"/>
          <p:nvPr/>
        </p:nvSpPr>
        <p:spPr>
          <a:xfrm>
            <a:off x="640080" y="1280160"/>
            <a:ext cx="5486400" cy="320040"/>
          </a:xfrm>
          <a:prstGeom prst="rect">
            <a:avLst/>
          </a:prstGeom>
          <a:noFill/>
          <a:ln/>
        </p:spPr>
        <p:txBody>
          <a:bodyPr wrap="square" lIns="0" tIns="0" rIns="0" bIns="0" rtlCol="0" anchor="ctr"/>
          <a:lstStyle/>
          <a:p>
            <a:pPr indent="0" marL="0">
              <a:buNone/>
            </a:pPr>
            <a:r>
              <a:rPr lang="en-US" sz="1600" b="1" dirty="0">
                <a:solidFill>
                  <a:srgbClr val="1F2933"/>
                </a:solidFill>
                <a:latin typeface="Calibri" pitchFamily="34" charset="0"/>
                <a:ea typeface="Calibri" pitchFamily="34" charset="-122"/>
                <a:cs typeface="Calibri" pitchFamily="34" charset="-120"/>
              </a:rPr>
              <a:t>All 5 nodes online</a:t>
            </a:r>
            <a:endParaRPr lang="en-US" sz="1600" dirty="0"/>
          </a:p>
        </p:txBody>
      </p:sp>
      <p:pic>
        <p:nvPicPr>
          <p:cNvPr id="4" name="Nodes online" descr="Storage nodes panel, all nodes online">    </p:cNvPr>
          <p:cNvPicPr>
            <a:picLocks noChangeAspect="1"/>
          </p:cNvPicPr>
          <p:nvPr/>
        </p:nvPicPr>
        <p:blipFill>
          <a:blip r:embed="rId1"/>
          <a:stretch>
            <a:fillRect/>
          </a:stretch>
        </p:blipFill>
        <p:spPr>
          <a:xfrm>
            <a:off x="640080" y="1645920"/>
            <a:ext cx="4937760" cy="2180180"/>
          </a:xfrm>
          <a:prstGeom prst="rect">
            <a:avLst/>
          </a:prstGeom>
        </p:spPr>
      </p:pic>
      <p:sp>
        <p:nvSpPr>
          <p:cNvPr id="5" name="Text 2"/>
          <p:cNvSpPr txBox="1"/>
          <p:nvPr/>
        </p:nvSpPr>
        <p:spPr>
          <a:xfrm>
            <a:off x="640080" y="3840480"/>
            <a:ext cx="5486400" cy="320040"/>
          </a:xfrm>
          <a:prstGeom prst="rect">
            <a:avLst/>
          </a:prstGeom>
          <a:noFill/>
          <a:ln/>
        </p:spPr>
        <p:txBody>
          <a:bodyPr wrap="square" lIns="0" tIns="0" rIns="0" bIns="0" rtlCol="0" anchor="ctr"/>
          <a:lstStyle/>
          <a:p>
            <a:pPr indent="0" marL="0">
              <a:buNone/>
            </a:pPr>
            <a:r>
              <a:rPr lang="en-US" sz="1600" b="1" dirty="0">
                <a:solidFill>
                  <a:srgbClr val="1F2933"/>
                </a:solidFill>
                <a:latin typeface="Calibri" pitchFamily="34" charset="0"/>
                <a:ea typeface="Calibri" pitchFamily="34" charset="-122"/>
                <a:cs typeface="Calibri" pitchFamily="34" charset="-120"/>
              </a:rPr>
              <a:t>node-2 and node-5 containers stopped (docker stop)</a:t>
            </a:r>
            <a:endParaRPr lang="en-US" sz="1600" dirty="0"/>
          </a:p>
        </p:txBody>
      </p:sp>
      <p:pic>
        <p:nvPicPr>
          <p:cNvPr id="6" name="Nodes offline" descr="Storage nodes panel, two node containers stopped">    </p:cNvPr>
          <p:cNvPicPr>
            <a:picLocks noChangeAspect="1"/>
          </p:cNvPicPr>
          <p:nvPr/>
        </p:nvPicPr>
        <p:blipFill>
          <a:blip r:embed="rId2"/>
          <a:stretch>
            <a:fillRect/>
          </a:stretch>
        </p:blipFill>
        <p:spPr>
          <a:xfrm>
            <a:off x="640080" y="4206240"/>
            <a:ext cx="4937760" cy="2180180"/>
          </a:xfrm>
          <a:prstGeom prst="rect">
            <a:avLst/>
          </a:prstGeom>
        </p:spPr>
      </p:pic>
      <p:sp>
        <p:nvSpPr>
          <p:cNvPr id="7" name="Text 3"/>
          <p:cNvSpPr txBox="1"/>
          <p:nvPr/>
        </p:nvSpPr>
        <p:spPr>
          <a:xfrm>
            <a:off x="5943600" y="1645920"/>
            <a:ext cx="5577840" cy="41148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Each node shows its container address, chunk count and stored bytes.</a:t>
            </a:r>
            <a:endParaRPr lang="en-US" sz="1600" dirty="0"/>
          </a:p>
          <a:p>
            <a:pPr marL="342900" indent="-3429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The two stopped containers are marked Unreachable by the heartbeat; no administrator action was needed.</a:t>
            </a:r>
            <a:endParaRPr lang="en-US" sz="1600" dirty="0"/>
          </a:p>
          <a:p>
            <a:pPr marL="342900" indent="-3429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The three live nodes now hold every chunk: the cluster re-copied them automatically.</a:t>
            </a:r>
            <a:endParaRPr lang="en-US" sz="1600" dirty="0"/>
          </a:p>
          <a:p>
            <a:pPr marL="342900" indent="-3429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The panel still reports every file available, and how many more nodes can go down without losing access.</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200" b="1" dirty="0">
                <a:solidFill>
                  <a:srgbClr val="1F2933"/>
                </a:solidFill>
                <a:latin typeface="Cambria" pitchFamily="34" charset="0"/>
                <a:ea typeface="Cambria" pitchFamily="34" charset="-122"/>
                <a:cs typeface="Cambria" pitchFamily="34" charset="-120"/>
              </a:rPr>
              <a:t>Output sample 7: file opens with two containers stopped</a:t>
            </a:r>
            <a:endParaRPr lang="en-US" sz="3200" dirty="0"/>
          </a:p>
        </p:txBody>
      </p:sp>
      <p:pic>
        <p:nvPicPr>
          <p:cNvPr id="3" name="Screenshot" descr="node-2 and node-5 containers are stopped; sales-2026.csv still opens in the viewer, served from the other nodes.">    </p:cNvPr>
          <p:cNvPicPr>
            <a:picLocks noChangeAspect="1"/>
          </p:cNvPicPr>
          <p:nvPr/>
        </p:nvPicPr>
        <p:blipFill>
          <a:blip r:embed="rId1"/>
          <a:stretch>
            <a:fillRect/>
          </a:stretch>
        </p:blipFill>
        <p:spPr>
          <a:xfrm>
            <a:off x="640080" y="1371600"/>
            <a:ext cx="10406462" cy="4480560"/>
          </a:xfrm>
          <a:prstGeom prst="rect">
            <a:avLst/>
          </a:prstGeom>
        </p:spPr>
      </p:pic>
      <p:sp>
        <p:nvSpPr>
          <p:cNvPr id="4" name="Text 1"/>
          <p:cNvSpPr txBox="1"/>
          <p:nvPr/>
        </p:nvSpPr>
        <p:spPr>
          <a:xfrm>
            <a:off x="640080" y="6035040"/>
            <a:ext cx="10515600" cy="457200"/>
          </a:xfrm>
          <a:prstGeom prst="rect">
            <a:avLst/>
          </a:prstGeom>
          <a:noFill/>
          <a:ln/>
        </p:spPr>
        <p:txBody>
          <a:bodyPr wrap="square" lIns="0" tIns="0" rIns="0" bIns="0" rtlCol="0" anchor="t"/>
          <a:lstStyle/>
          <a:p>
            <a:pPr indent="0" marL="0">
              <a:buNone/>
            </a:pPr>
            <a:r>
              <a:rPr lang="en-US" sz="1600" i="1" dirty="0">
                <a:solidFill>
                  <a:srgbClr val="3E4C59"/>
                </a:solidFill>
                <a:latin typeface="Calibri" pitchFamily="34" charset="0"/>
                <a:ea typeface="Calibri" pitchFamily="34" charset="-122"/>
                <a:cs typeface="Calibri" pitchFamily="34" charset="-120"/>
              </a:rPr>
              <a:t>node-2 and node-5 containers are stopped; sales-2026.csv still opens in the viewer, served from the other nodes.</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200" b="1" dirty="0">
                <a:solidFill>
                  <a:srgbClr val="1F2933"/>
                </a:solidFill>
                <a:latin typeface="Cambria" pitchFamily="34" charset="0"/>
                <a:ea typeface="Cambria" pitchFamily="34" charset="-122"/>
                <a:cs typeface="Cambria" pitchFamily="34" charset="-120"/>
              </a:rPr>
              <a:t>Output sample 8: proof under node failures</a:t>
            </a:r>
            <a:endParaRPr lang="en-US" sz="3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0881360" cy="914400"/>
        </p:xfrm>
        <a:graphic>
          <a:graphicData uri="http://schemas.openxmlformats.org/drawingml/2006/table">
            <a:tbl>
              <a:tblPr/>
              <a:tblGrid>
                <a:gridCol w="4206240"/>
                <a:gridCol w="1828800"/>
                <a:gridCol w="2194560"/>
                <a:gridCol w="2651760"/>
              </a:tblGrid>
              <a:tr h="0">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Failure</a:t>
                      </a:r>
                      <a:endParaRPr lang="en-US" sz="1400" dirty="0">
                        <a:latin typeface="Calibri" charset="0"/>
                        <a:ea typeface="Calibri" charset="0"/>
                        <a:cs typeface="Calibri" charset="0"/>
                      </a:endParaRPr>
                    </a:p>
                  </a:txBody>
                  <a:tcPr marL="91440" marR="91440" marT="73152" marB="73152"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EEF1F5"/>
                    </a:solidFill>
                  </a:tcPr>
                </a:tc>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Combinations tested</a:t>
                      </a:r>
                      <a:endParaRPr lang="en-US" sz="1400" dirty="0">
                        <a:latin typeface="Calibri" charset="0"/>
                        <a:ea typeface="Calibri" charset="0"/>
                        <a:cs typeface="Calibri" charset="0"/>
                      </a:endParaRPr>
                    </a:p>
                  </a:txBody>
                  <a:tcPr marL="91440" marR="91440" marT="73152" marB="73152"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EEF1F5"/>
                    </a:solidFill>
                  </a:tcPr>
                </a:tc>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All 6 files intact in</a:t>
                      </a:r>
                      <a:endParaRPr lang="en-US" sz="1400" dirty="0">
                        <a:latin typeface="Calibri" charset="0"/>
                        <a:ea typeface="Calibri" charset="0"/>
                        <a:cs typeface="Calibri" charset="0"/>
                      </a:endParaRPr>
                    </a:p>
                  </a:txBody>
                  <a:tcPr marL="91440" marR="91440" marT="73152" marB="73152"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EEF1F5"/>
                    </a:solidFill>
                  </a:tcPr>
                </a:tc>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Worst case</a:t>
                      </a:r>
                      <a:endParaRPr lang="en-US" sz="1400" dirty="0">
                        <a:latin typeface="Calibri" charset="0"/>
                        <a:ea typeface="Calibri" charset="0"/>
                        <a:cs typeface="Calibri" charset="0"/>
                      </a:endParaRPr>
                    </a:p>
                  </a:txBody>
                  <a:tcPr marL="91440" marR="91440" marT="73152" marB="73152"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rgbClr val="EEF1F5"/>
                    </a:solidFill>
                  </a:tcPr>
                </a:tc>
              </a:tr>
              <a:tr h="0">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Any 1 node offline</a:t>
                      </a:r>
                      <a:endParaRPr lang="en-US" sz="1400" dirty="0">
                        <a:latin typeface="Calibri" charset="0"/>
                        <a:ea typeface="Calibri" charset="0"/>
                        <a:cs typeface="Calibri" charset="0"/>
                      </a:endParaRPr>
                    </a:p>
                  </a:txBody>
                  <a:tcPr marL="91440" marR="91440" marT="73152" marB="73152"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91440" marR="91440" marT="73152" marB="73152"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algn="ctr" indent="0" marL="0">
                        <a:buNone/>
                      </a:pPr>
                      <a:r>
                        <a:rPr lang="en-US" sz="1400" b="1" dirty="0">
                          <a:solidFill>
                            <a:srgbClr val="137333"/>
                          </a:solidFill>
                          <a:latin typeface="Calibri" pitchFamily="34" charset="0"/>
                          <a:ea typeface="Calibri" pitchFamily="34" charset="-122"/>
                          <a:cs typeface="Calibri" pitchFamily="34" charset="-120"/>
                        </a:rPr>
                        <a:t>5 of 5</a:t>
                      </a:r>
                      <a:endParaRPr lang="en-US" sz="1400" dirty="0">
                        <a:latin typeface="Calibri" charset="0"/>
                        <a:ea typeface="Calibri" charset="0"/>
                        <a:cs typeface="Calibri" charset="0"/>
                      </a:endParaRPr>
                    </a:p>
                  </a:txBody>
                  <a:tcPr marL="91440" marR="91440" marT="73152" marB="73152"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6 of 6 files</a:t>
                      </a:r>
                      <a:endParaRPr lang="en-US" sz="1400" dirty="0">
                        <a:latin typeface="Calibri" charset="0"/>
                        <a:ea typeface="Calibri" charset="0"/>
                        <a:cs typeface="Calibri" charset="0"/>
                      </a:endParaRPr>
                    </a:p>
                  </a:txBody>
                  <a:tcPr marL="91440" marR="91440" marT="73152" marB="73152"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0">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Any 2 nodes offline at the same time</a:t>
                      </a:r>
                      <a:endParaRPr lang="en-US" sz="1400" dirty="0">
                        <a:latin typeface="Calibri" charset="0"/>
                        <a:ea typeface="Calibri" charset="0"/>
                        <a:cs typeface="Calibri" charset="0"/>
                      </a:endParaRPr>
                    </a:p>
                  </a:txBody>
                  <a:tcPr marL="91440" marR="91440" marT="73152" marB="73152"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91440" marR="91440" marT="73152" marB="73152"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algn="ctr" indent="0" marL="0">
                        <a:buNone/>
                      </a:pPr>
                      <a:r>
                        <a:rPr lang="en-US" sz="1400" b="1" dirty="0">
                          <a:solidFill>
                            <a:srgbClr val="137333"/>
                          </a:solidFill>
                          <a:latin typeface="Calibri" pitchFamily="34" charset="0"/>
                          <a:ea typeface="Calibri" pitchFamily="34" charset="-122"/>
                          <a:cs typeface="Calibri" pitchFamily="34" charset="-120"/>
                        </a:rPr>
                        <a:t>10 of 10</a:t>
                      </a:r>
                      <a:endParaRPr lang="en-US" sz="1400" dirty="0">
                        <a:latin typeface="Calibri" charset="0"/>
                        <a:ea typeface="Calibri" charset="0"/>
                        <a:cs typeface="Calibri" charset="0"/>
                      </a:endParaRPr>
                    </a:p>
                  </a:txBody>
                  <a:tcPr marL="91440" marR="91440" marT="73152" marB="73152"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6 of 6 files</a:t>
                      </a:r>
                      <a:endParaRPr lang="en-US" sz="1400" dirty="0">
                        <a:latin typeface="Calibri" charset="0"/>
                        <a:ea typeface="Calibri" charset="0"/>
                        <a:cs typeface="Calibri" charset="0"/>
                      </a:endParaRPr>
                    </a:p>
                  </a:txBody>
                  <a:tcPr marL="91440" marR="91440" marT="73152" marB="73152"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0">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3 nodes offline at the same time</a:t>
                      </a:r>
                      <a:endParaRPr lang="en-US" sz="1400" dirty="0">
                        <a:latin typeface="Calibri" charset="0"/>
                        <a:ea typeface="Calibri" charset="0"/>
                        <a:cs typeface="Calibri" charset="0"/>
                      </a:endParaRPr>
                    </a:p>
                  </a:txBody>
                  <a:tcPr marL="91440" marR="91440" marT="73152" marB="73152"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91440" marR="91440" marT="73152" marB="73152"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algn="ctr" indent="0" marL="0">
                        <a:buNone/>
                      </a:pPr>
                      <a:r>
                        <a:rPr lang="en-US" sz="1400" b="1" dirty="0">
                          <a:solidFill>
                            <a:srgbClr val="B3261E"/>
                          </a:solidFill>
                          <a:latin typeface="Calibri" pitchFamily="34" charset="0"/>
                          <a:ea typeface="Calibri" pitchFamily="34" charset="-122"/>
                          <a:cs typeface="Calibri" pitchFamily="34" charset="-120"/>
                        </a:rPr>
                        <a:t>0 of 10</a:t>
                      </a:r>
                      <a:endParaRPr lang="en-US" sz="1400" dirty="0">
                        <a:latin typeface="Calibri" charset="0"/>
                        <a:ea typeface="Calibri" charset="0"/>
                        <a:cs typeface="Calibri" charset="0"/>
                      </a:endParaRPr>
                    </a:p>
                  </a:txBody>
                  <a:tcPr marL="91440" marR="91440" marT="73152" marB="73152"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2 of 6 files</a:t>
                      </a:r>
                      <a:endParaRPr lang="en-US" sz="1400" dirty="0">
                        <a:latin typeface="Calibri" charset="0"/>
                        <a:ea typeface="Calibri" charset="0"/>
                        <a:cs typeface="Calibri" charset="0"/>
                      </a:endParaRPr>
                    </a:p>
                  </a:txBody>
                  <a:tcPr marL="91440" marR="91440" marT="73152" marB="73152"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0">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Nodes failing one after another (repair in between)</a:t>
                      </a:r>
                      <a:endParaRPr lang="en-US" sz="1400" dirty="0">
                        <a:latin typeface="Calibri" charset="0"/>
                        <a:ea typeface="Calibri" charset="0"/>
                        <a:cs typeface="Calibri" charset="0"/>
                      </a:endParaRPr>
                    </a:p>
                  </a:txBody>
                  <a:tcPr marL="91440" marR="91440" marT="73152" marB="73152"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4 failures</a:t>
                      </a:r>
                      <a:endParaRPr lang="en-US" sz="1400" dirty="0">
                        <a:latin typeface="Calibri" charset="0"/>
                        <a:ea typeface="Calibri" charset="0"/>
                        <a:cs typeface="Calibri" charset="0"/>
                      </a:endParaRPr>
                    </a:p>
                  </a:txBody>
                  <a:tcPr marL="91440" marR="91440" marT="73152" marB="73152"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algn="ctr" indent="0" marL="0">
                        <a:buNone/>
                      </a:pPr>
                      <a:r>
                        <a:rPr lang="en-US" sz="1400" b="1" dirty="0">
                          <a:solidFill>
                            <a:srgbClr val="137333"/>
                          </a:solidFill>
                          <a:latin typeface="Calibri" pitchFamily="34" charset="0"/>
                          <a:ea typeface="Calibri" pitchFamily="34" charset="-122"/>
                          <a:cs typeface="Calibri" pitchFamily="34" charset="-120"/>
                        </a:rPr>
                        <a:t>4 of 4</a:t>
                      </a:r>
                      <a:endParaRPr lang="en-US" sz="1400" dirty="0">
                        <a:latin typeface="Calibri" charset="0"/>
                        <a:ea typeface="Calibri" charset="0"/>
                        <a:cs typeface="Calibri" charset="0"/>
                      </a:endParaRPr>
                    </a:p>
                  </a:txBody>
                  <a:tcPr marL="91440" marR="91440" marT="73152" marB="73152"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6 of 6 files with 1 node online</a:t>
                      </a:r>
                      <a:endParaRPr lang="en-US" sz="1400" dirty="0">
                        <a:latin typeface="Calibri" charset="0"/>
                        <a:ea typeface="Calibri" charset="0"/>
                        <a:cs typeface="Calibri" charset="0"/>
                      </a:endParaRPr>
                    </a:p>
                  </a:txBody>
                  <a:tcPr marL="91440" marR="91440" marT="73152" marB="73152"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bl>
          </a:graphicData>
        </a:graphic>
      </p:graphicFrame>
      <p:sp>
        <p:nvSpPr>
          <p:cNvPr id="4" name="Text 1"/>
          <p:cNvSpPr txBox="1"/>
          <p:nvPr/>
        </p:nvSpPr>
        <p:spPr>
          <a:xfrm>
            <a:off x="640080" y="4023360"/>
            <a:ext cx="10881360" cy="21031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6 files of 0.3 to 1.3 MB were uploaded; each was downloaded and its SHA-256 compared with the original.</a:t>
            </a:r>
            <a:endParaRPr lang="en-US" sz="1700" dirty="0"/>
          </a:p>
          <a:p>
            <a:pPr marL="342900" indent="-3429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With 3 copies, any 2 nodes can be down at the same moment without losing access; with 3 nodes down at once, some chunks can become unreadable until a node returns (HTTP 503).</a:t>
            </a:r>
            <a:endParaRPr lang="en-US" sz="1700" dirty="0"/>
          </a:p>
          <a:p>
            <a:pPr marL="342900" indent="-3429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When nodes fail one after another, self-healing re-creates the missing copies in between, so files stay readable until only one node is left.</a:t>
            </a:r>
            <a:endParaRPr lang="en-US" sz="17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200" b="1" dirty="0">
                <a:solidFill>
                  <a:srgbClr val="1F2933"/>
                </a:solidFill>
                <a:latin typeface="Cambria" pitchFamily="34" charset="0"/>
                <a:ea typeface="Cambria" pitchFamily="34" charset="-122"/>
                <a:cs typeface="Cambria" pitchFamily="34" charset="-120"/>
              </a:rPr>
              <a:t>Output sample 9: containers stopped</a:t>
            </a:r>
            <a:endParaRPr lang="en-US" sz="3200" dirty="0"/>
          </a:p>
        </p:txBody>
      </p:sp>
      <p:sp>
        <p:nvSpPr>
          <p:cNvPr id="3" name="Text 1"/>
          <p:cNvSpPr txBox="1"/>
          <p:nvPr/>
        </p:nvSpPr>
        <p:spPr>
          <a:xfrm>
            <a:off x="640080" y="1234440"/>
            <a:ext cx="10881360" cy="4846320"/>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1. Storage nodes running as containers</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drive-node-1  Up 47 seconds  127.0.0.1:9101-&gt;8080/tcp</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drive-node-2  Up 47 seconds  127.0.0.1:9102-&gt;8080/tcp</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drive-node-3  Up 47 seconds  127.0.0.1:9103-&gt;8080/tcp</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drive-node-4  Up 47 seconds  127.0.0.1:9104-&gt;8080/tcp</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drive-node-5  Up 47 seconds  127.0.0.1:9105-&gt;8080/tcp</a:t>
            </a:r>
            <a:endParaRPr lang="en-US" sz="1100" dirty="0"/>
          </a:p>
          <a:p>
            <a:pPr indent="0" marL="0">
              <a:buNone/>
            </a:pP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2. Upload 700000 bytes (sha256 0b3a233a15ae4314...): chunks on containers</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chunk 0  on node-3, node-4, node-1</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chunk 1  on node-3, node-4, node-2</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chunk 2  on node-3, node-2, node-4</a:t>
            </a:r>
            <a:endParaRPr lang="en-US" sz="1100" dirty="0"/>
          </a:p>
          <a:p>
            <a:pPr indent="0" marL="0">
              <a:buNone/>
            </a:pP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3. docker stop drive-node-3 drive-node-4   (two containers crash together)</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heartbeat noticed both within 3.0 s, with no administrator action</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node-1  ONLINE       http://localhost:9101  chunks=24</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node-2  ONLINE       http://localhost:9102  chunks=26</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node-3  UNREACHABLE  http://localhost:9103  chunks=0</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node-4  UNREACHABLE  http://localhost:9104  chunks=0</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node-5  ONLINE       http://localhost:9105  chunks=27</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14 files, 36 chunks | more nodes that can fail: 0</a:t>
            </a:r>
            <a:endParaRPr lang="en-US" sz="1100" dirty="0"/>
          </a:p>
          <a:p>
            <a:pPr indent="0" marL="0">
              <a:buNone/>
            </a:pP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4. Download while two containers are dead</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sha256 of download: 0b3a233a15ae4314...  original: 0b3a233a15ae4314...  -&gt; MATCH</a:t>
            </a:r>
            <a:endParaRPr lang="en-US" sz="1100" dirty="0"/>
          </a:p>
        </p:txBody>
      </p:sp>
      <p:sp>
        <p:nvSpPr>
          <p:cNvPr id="4" name="Text 2"/>
          <p:cNvSpPr txBox="1"/>
          <p:nvPr/>
        </p:nvSpPr>
        <p:spPr>
          <a:xfrm>
            <a:off x="640080" y="6172200"/>
            <a:ext cx="10881360" cy="320040"/>
          </a:xfrm>
          <a:prstGeom prst="rect">
            <a:avLst/>
          </a:prstGeom>
          <a:noFill/>
          <a:ln/>
        </p:spPr>
        <p:txBody>
          <a:bodyPr wrap="square" lIns="0" tIns="0" rIns="0" bIns="0" rtlCol="0" anchor="t"/>
          <a:lstStyle/>
          <a:p>
            <a:pPr indent="0" marL="0">
              <a:buNone/>
            </a:pPr>
            <a:r>
              <a:rPr lang="en-US" sz="1600" i="1" dirty="0">
                <a:solidFill>
                  <a:srgbClr val="3E4C59"/>
                </a:solidFill>
                <a:latin typeface="Calibri" pitchFamily="34" charset="0"/>
                <a:ea typeface="Calibri" pitchFamily="34" charset="-122"/>
                <a:cs typeface="Calibri" pitchFamily="34" charset="-120"/>
              </a:rPr>
              <a:t>Real output of docs/prove_containers.sh: docker stop and docker start on the node containers.</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200" b="1" dirty="0">
                <a:solidFill>
                  <a:srgbClr val="1F2933"/>
                </a:solidFill>
                <a:latin typeface="Cambria" pitchFamily="34" charset="0"/>
                <a:ea typeface="Cambria" pitchFamily="34" charset="-122"/>
                <a:cs typeface="Cambria" pitchFamily="34" charset="-120"/>
              </a:rPr>
              <a:t>Output sample 10: recovery and one-by-one failures</a:t>
            </a:r>
            <a:endParaRPr lang="en-US" sz="3200" dirty="0"/>
          </a:p>
        </p:txBody>
      </p:sp>
      <p:sp>
        <p:nvSpPr>
          <p:cNvPr id="3" name="Text 1"/>
          <p:cNvSpPr txBox="1"/>
          <p:nvPr/>
        </p:nvSpPr>
        <p:spPr>
          <a:xfrm>
            <a:off x="640080" y="1234440"/>
            <a:ext cx="10881360" cy="4846320"/>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5. Upload a second file during the outage</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chunk 0  on node-2, node-5, node-1</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chunk 1  on node-5, node-2, node-1</a:t>
            </a:r>
            <a:endParaRPr lang="en-US" sz="1100" dirty="0"/>
          </a:p>
          <a:p>
            <a:pPr indent="0" marL="0">
              <a:buNone/>
            </a:pP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6. docker start drive-node-3 drive-node-4</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all 5 nodes online again</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node-1  ONLINE       http://localhost:9101  chunks=22</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node-2  ONLINE       http://localhost:9102  chunks=23</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node-3  ONLINE       http://localhost:9103  chunks=26</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node-4  ONLINE       http://localhost:9104  chunks=19</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node-5  ONLINE       http://localhost:9105  chunks=24</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15 files, 38 chunks | more nodes that can fail: 2</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second file after recovery:</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chunk 0  on node-3, node-2, node-5</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chunk 1  on node-5, node-3, node-2</a:t>
            </a:r>
            <a:endParaRPr lang="en-US" sz="1100" dirty="0"/>
          </a:p>
          <a:p>
            <a:pPr indent="0" marL="0">
              <a:buNone/>
            </a:pP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7. Failures one after another: node-1, node-2, node-3, node-4 containers stopped in turn</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drive-node-1 stopped, 4 container(s) left: download MATCH</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drive-node-2 stopped, 3 container(s) left: download MATCH</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drive-node-3 stopped, 2 container(s) left: download MATCH</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drive-node-4 stopped, 1 container(s) left: download MATCH</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   all containers started again</a:t>
            </a:r>
            <a:endParaRPr lang="en-US" sz="1100" dirty="0"/>
          </a:p>
        </p:txBody>
      </p:sp>
      <p:sp>
        <p:nvSpPr>
          <p:cNvPr id="4" name="Text 2"/>
          <p:cNvSpPr txBox="1"/>
          <p:nvPr/>
        </p:nvSpPr>
        <p:spPr>
          <a:xfrm>
            <a:off x="640080" y="6172200"/>
            <a:ext cx="10881360" cy="320040"/>
          </a:xfrm>
          <a:prstGeom prst="rect">
            <a:avLst/>
          </a:prstGeom>
          <a:noFill/>
          <a:ln/>
        </p:spPr>
        <p:txBody>
          <a:bodyPr wrap="square" lIns="0" tIns="0" rIns="0" bIns="0" rtlCol="0" anchor="t"/>
          <a:lstStyle/>
          <a:p>
            <a:pPr indent="0" marL="0">
              <a:buNone/>
            </a:pPr>
            <a:r>
              <a:rPr lang="en-US" sz="1600" i="1" dirty="0">
                <a:solidFill>
                  <a:srgbClr val="3E4C59"/>
                </a:solidFill>
                <a:latin typeface="Calibri" pitchFamily="34" charset="0"/>
                <a:ea typeface="Calibri" pitchFamily="34" charset="-122"/>
                <a:cs typeface="Calibri" pitchFamily="34" charset="-120"/>
              </a:rPr>
              <a:t>Real output of docs/prove_containers.sh: docker stop and docker start on the node containers.</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200" b="1" dirty="0">
                <a:solidFill>
                  <a:srgbClr val="1F2933"/>
                </a:solidFill>
                <a:latin typeface="Cambria" pitchFamily="34" charset="0"/>
                <a:ea typeface="Cambria" pitchFamily="34" charset="-122"/>
                <a:cs typeface="Cambria" pitchFamily="34" charset="-120"/>
              </a:rPr>
              <a:t>Result</a:t>
            </a:r>
            <a:endParaRPr lang="en-US" sz="3200" dirty="0"/>
          </a:p>
        </p:txBody>
      </p:sp>
      <p:sp>
        <p:nvSpPr>
          <p:cNvPr id="3" name="Text 1"/>
          <p:cNvSpPr txBox="1"/>
          <p:nvPr/>
        </p:nvSpPr>
        <p:spPr>
          <a:xfrm>
            <a:off x="640080" y="1463040"/>
            <a:ext cx="10881360" cy="466344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1F2933"/>
                </a:solidFill>
                <a:latin typeface="Calibri" pitchFamily="34" charset="0"/>
                <a:ea typeface="Calibri" pitchFamily="34" charset="-122"/>
                <a:cs typeface="Calibri" pitchFamily="34" charset="-120"/>
              </a:rPr>
              <a:t>Demo data set: 13 files, 6.1 MB as users see them.</a:t>
            </a:r>
            <a:endParaRPr lang="en-US" sz="1700" dirty="0"/>
          </a:p>
          <a:p>
            <a:pPr marL="342900" indent="-342900">
              <a:spcAft>
                <a:spcPts val="1200"/>
              </a:spcAft>
              <a:buSzPct val="100000"/>
              <a:buChar char="•"/>
            </a:pPr>
            <a:r>
              <a:rPr lang="en-US" sz="1700" dirty="0">
                <a:solidFill>
                  <a:srgbClr val="1F2933"/>
                </a:solidFill>
                <a:latin typeface="Calibri" pitchFamily="34" charset="0"/>
                <a:ea typeface="Calibri" pitchFamily="34" charset="-122"/>
                <a:cs typeface="Calibri" pitchFamily="34" charset="-120"/>
              </a:rPr>
              <a:t>One optimizer run moved 6 files to cold storage; 7 stayed hot.</a:t>
            </a:r>
            <a:endParaRPr lang="en-US" sz="1700" dirty="0"/>
          </a:p>
          <a:p>
            <a:pPr marL="342900" indent="-342900">
              <a:spcAft>
                <a:spcPts val="1200"/>
              </a:spcAft>
              <a:buSzPct val="100000"/>
              <a:buChar char="•"/>
            </a:pPr>
            <a:r>
              <a:rPr lang="en-US" sz="1700" dirty="0">
                <a:solidFill>
                  <a:srgbClr val="1F2933"/>
                </a:solidFill>
                <a:latin typeface="Calibri" pitchFamily="34" charset="0"/>
                <a:ea typeface="Calibri" pitchFamily="34" charset="-122"/>
                <a:cs typeface="Calibri" pitchFamily="34" charset="-120"/>
              </a:rPr>
              <a:t>On disk the same data takes 2.0 MB: 4.1 MB saved, 67% smaller.</a:t>
            </a:r>
            <a:endParaRPr lang="en-US" sz="1700" dirty="0"/>
          </a:p>
          <a:p>
            <a:pPr marL="342900" indent="-342900">
              <a:spcAft>
                <a:spcPts val="1200"/>
              </a:spcAft>
              <a:buSzPct val="100000"/>
              <a:buChar char="•"/>
            </a:pPr>
            <a:r>
              <a:rPr lang="en-US" sz="1700" dirty="0">
                <a:solidFill>
                  <a:srgbClr val="1F2933"/>
                </a:solidFill>
                <a:latin typeface="Calibri" pitchFamily="34" charset="0"/>
                <a:ea typeface="Calibri" pitchFamily="34" charset="-122"/>
                <a:cs typeface="Calibri" pitchFamily="34" charset="-120"/>
              </a:rPr>
              <a:t>Of 36 downloads, none waited for a restore; a download starts in about 11 ms on average.</a:t>
            </a:r>
            <a:endParaRPr lang="en-US" sz="1700" dirty="0"/>
          </a:p>
          <a:p>
            <a:pPr marL="342900" indent="-342900">
              <a:spcAft>
                <a:spcPts val="1200"/>
              </a:spcAft>
              <a:buSzPct val="100000"/>
              <a:buChar char="•"/>
            </a:pPr>
            <a:r>
              <a:rPr lang="en-US" sz="1700" dirty="0">
                <a:solidFill>
                  <a:srgbClr val="1F2933"/>
                </a:solidFill>
                <a:latin typeface="Calibri" pitchFamily="34" charset="0"/>
                <a:ea typeface="Calibri" pitchFamily="34" charset="-122"/>
                <a:cs typeface="Calibri" pitchFamily="34" charset="-120"/>
              </a:rPr>
              <a:t>The model trained on 24 access examples and scored all 13 files.</a:t>
            </a:r>
            <a:endParaRPr lang="en-US" sz="1700" dirty="0"/>
          </a:p>
          <a:p>
            <a:pPr marL="342900" indent="-342900">
              <a:spcAft>
                <a:spcPts val="1200"/>
              </a:spcAft>
              <a:buSzPct val="100000"/>
              <a:buChar char="•"/>
            </a:pPr>
            <a:r>
              <a:rPr lang="en-US" sz="1700" dirty="0">
                <a:solidFill>
                  <a:srgbClr val="1F2933"/>
                </a:solidFill>
                <a:latin typeface="Calibri" pitchFamily="34" charset="0"/>
                <a:ea typeface="Calibri" pitchFamily="34" charset="-122"/>
                <a:cs typeface="Calibri" pitchFamily="34" charset="-120"/>
              </a:rPr>
              <a:t>Distribution: files are cut into chunks, each on 3 of 5 node containers. With any 2 nodes down together, all 6 test files downloaded with the original SHA-256.</a:t>
            </a:r>
            <a:endParaRPr lang="en-US" sz="1700" dirty="0"/>
          </a:p>
          <a:p>
            <a:pPr marL="342900" indent="-342900">
              <a:spcAft>
                <a:spcPts val="1200"/>
              </a:spcAft>
              <a:buSzPct val="100000"/>
              <a:buChar char="•"/>
            </a:pPr>
            <a:r>
              <a:rPr lang="en-US" sz="1700" dirty="0">
                <a:solidFill>
                  <a:srgbClr val="1F2933"/>
                </a:solidFill>
                <a:latin typeface="Calibri" pitchFamily="34" charset="0"/>
                <a:ea typeface="Calibri" pitchFamily="34" charset="-122"/>
                <a:cs typeface="Calibri" pitchFamily="34" charset="-120"/>
              </a:rPr>
              <a:t>Real failures: with two containers stopped, the heartbeat marked both unreachable within about 3 seconds and the download matched; stopping 4 of 5 containers in turn, every download matched.</a:t>
            </a:r>
            <a:endParaRPr lang="en-US" sz="1700" dirty="0"/>
          </a:p>
          <a:p>
            <a:pPr marL="342900" indent="-342900">
              <a:spcAft>
                <a:spcPts val="1200"/>
              </a:spcAft>
              <a:buSzPct val="100000"/>
              <a:buChar char="•"/>
            </a:pPr>
            <a:r>
              <a:rPr lang="en-US" sz="1700" dirty="0">
                <a:solidFill>
                  <a:srgbClr val="1F2933"/>
                </a:solidFill>
                <a:latin typeface="Calibri" pitchFamily="34" charset="0"/>
                <a:ea typeface="Calibri" pitchFamily="34" charset="-122"/>
                <a:cs typeface="Calibri" pitchFamily="34" charset="-120"/>
              </a:rPr>
              <a:t>Privacy holds: another user's file or folder returns 404, and the AI summary is admin-only.</a:t>
            </a:r>
            <a:endParaRPr lang="en-US" sz="1700" dirty="0"/>
          </a:p>
          <a:p>
            <a:pPr marL="342900" indent="-342900">
              <a:spcAft>
                <a:spcPts val="1200"/>
              </a:spcAft>
              <a:buSzPct val="100000"/>
              <a:buChar char="•"/>
            </a:pPr>
            <a:r>
              <a:rPr lang="en-US" sz="1700" dirty="0">
                <a:solidFill>
                  <a:srgbClr val="1F2933"/>
                </a:solidFill>
                <a:latin typeface="Calibri" pitchFamily="34" charset="0"/>
                <a:ea typeface="Calibri" pitchFamily="34" charset="-122"/>
                <a:cs typeface="Calibri" pitchFamily="34" charset="-120"/>
              </a:rPr>
              <a:t>61 automated tests pass on a real PostgreSQL, and 68 parallel requests ran without errors.</a:t>
            </a:r>
            <a:endParaRPr lang="en-US" sz="17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B8794"/>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Plain Report">
  <a:themeElements>
    <a:clrScheme name="Plain Report">
      <a:dk1>
        <a:srgbClr val="1F2933"/>
      </a:dk1>
      <a:lt1>
        <a:srgbClr val="FFFFFF"/>
      </a:lt1>
      <a:dk2>
        <a:srgbClr val="3E4C59"/>
      </a:dk2>
      <a:lt2>
        <a:srgbClr val="F5F7FA"/>
      </a:lt2>
      <a:accent1>
        <a:srgbClr val="1A56C4"/>
      </a:accent1>
      <a:accent2>
        <a:srgbClr val="3E4C59"/>
      </a:accent2>
      <a:accent3>
        <a:srgbClr val="7B8794"/>
      </a:accent3>
      <a:accent4>
        <a:srgbClr val="1A56C4"/>
      </a:accent4>
      <a:accent5>
        <a:srgbClr val="3E4C59"/>
      </a:accent5>
      <a:accent6>
        <a:srgbClr val="7B8794"/>
      </a:accent6>
      <a:hlink>
        <a:srgbClr val="1A56C4"/>
      </a:hlink>
      <a:folHlink>
        <a:srgbClr val="7B8794"/>
      </a:folHlink>
    </a:clrScheme>
    <a:fontScheme name="Plain Repor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File Storage System with Smart Storage Management</dc:title>
  <dc:subject>PptxGenJS Presentation</dc:subject>
  <dc:creator>PptxGenJS</dc:creator>
  <cp:lastModifiedBy>PptxGenJS</cp:lastModifiedBy>
  <cp:revision>1</cp:revision>
  <dcterms:created xsi:type="dcterms:W3CDTF">2026-10-11T21:13:44Z</dcterms:created>
  <dcterms:modified xsi:type="dcterms:W3CDTF">2026-10-11T21:13:44Z</dcterms:modified>
</cp:coreProperties>
</file>